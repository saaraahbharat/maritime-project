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1DC0A8F-5089-9557-0363-9B10FE937FF1}">
          <p14:sldIdLst>
            <p14:sldId id="256"/>
            <p14:sldId id="257"/>
          </p14:sldIdLst>
        </p14:section>
        <p14:section name="Product" id="{2AEACC6E-CC61-C0D1-BAAF-B87730CD1B02}">
          <p14:sldIdLst>
            <p14:sldId id="258"/>
            <p14:sldId id="259"/>
          </p14:sldIdLst>
        </p14:section>
        <p14:section name="Data science" id="{FD7CA0E2-F8F9-E155-0D58-5CF53C026ADC}">
          <p14:sldIdLst>
            <p14:sldId id="260"/>
            <p14:sldId id="261"/>
          </p14:sldIdLst>
        </p14:section>
        <p14:section name="Results" id="{F82612D6-101C-E812-51B5-7594ADE00CB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lose" id="{5F4FEDD3-9D06-FFE4-878A-50167DD85E1D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raah Bharat" userId="df8f7feb6ebb4efd" providerId="LiveId" clId="{52FA9AD3-7F49-413D-B2F0-23CE35846BDC}"/>
    <pc:docChg chg="undo custSel modSld">
      <pc:chgData name="Saaraah Bharat" userId="df8f7feb6ebb4efd" providerId="LiveId" clId="{52FA9AD3-7F49-413D-B2F0-23CE35846BDC}" dt="2026-10-21T16:56:40.913" v="69" actId="255"/>
      <pc:docMkLst>
        <pc:docMk/>
      </pc:docMkLst>
      <pc:sldChg chg="modSp mod">
        <pc:chgData name="Saaraah Bharat" userId="df8f7feb6ebb4efd" providerId="LiveId" clId="{52FA9AD3-7F49-413D-B2F0-23CE35846BDC}" dt="2026-10-21T16:55:21.800" v="57" actId="20577"/>
        <pc:sldMkLst>
          <pc:docMk/>
          <pc:sldMk cId="0" sldId="256"/>
        </pc:sldMkLst>
        <pc:spChg chg="mod">
          <ac:chgData name="Saaraah Bharat" userId="df8f7feb6ebb4efd" providerId="LiveId" clId="{52FA9AD3-7F49-413D-B2F0-23CE35846BDC}" dt="2026-10-21T16:55:21.800" v="57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">
        <pc:chgData name="Saaraah Bharat" userId="df8f7feb6ebb4efd" providerId="LiveId" clId="{52FA9AD3-7F49-413D-B2F0-23CE35846BDC}" dt="2026-10-21T16:55:35.592" v="60" actId="255"/>
        <pc:sldMkLst>
          <pc:docMk/>
          <pc:sldMk cId="0" sldId="257"/>
        </pc:sldMkLst>
        <pc:spChg chg="mod">
          <ac:chgData name="Saaraah Bharat" userId="df8f7feb6ebb4efd" providerId="LiveId" clId="{52FA9AD3-7F49-413D-B2F0-23CE35846BDC}" dt="2026-10-21T16:55:35.592" v="60" actId="255"/>
          <ac:spMkLst>
            <pc:docMk/>
            <pc:sldMk cId="0" sldId="257"/>
            <ac:spMk id="2" creationId="{00000000-0000-0000-0000-000000000000}"/>
          </ac:spMkLst>
        </pc:spChg>
        <pc:spChg chg="del">
          <ac:chgData name="Saaraah Bharat" userId="df8f7feb6ebb4efd" providerId="LiveId" clId="{52FA9AD3-7F49-413D-B2F0-23CE35846BDC}" dt="2026-10-21T16:55:28.080" v="58" actId="478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Saaraah Bharat" userId="df8f7feb6ebb4efd" providerId="LiveId" clId="{52FA9AD3-7F49-413D-B2F0-23CE35846BDC}" dt="2026-10-21T16:55:29.328" v="59" actId="478"/>
          <ac:spMkLst>
            <pc:docMk/>
            <pc:sldMk cId="0" sldId="257"/>
            <ac:spMk id="15" creationId="{4C1CC7B0-0E8D-F8C1-7A1B-9A24266FC890}"/>
          </ac:spMkLst>
        </pc:spChg>
      </pc:sldChg>
      <pc:sldChg chg="addSp delSp modSp mod">
        <pc:chgData name="Saaraah Bharat" userId="df8f7feb6ebb4efd" providerId="LiveId" clId="{52FA9AD3-7F49-413D-B2F0-23CE35846BDC}" dt="2026-10-21T16:56:21.843" v="63" actId="255"/>
        <pc:sldMkLst>
          <pc:docMk/>
          <pc:sldMk cId="0" sldId="258"/>
        </pc:sldMkLst>
        <pc:spChg chg="mod">
          <ac:chgData name="Saaraah Bharat" userId="df8f7feb6ebb4efd" providerId="LiveId" clId="{52FA9AD3-7F49-413D-B2F0-23CE35846BDC}" dt="2026-10-21T16:56:21.843" v="63" actId="255"/>
          <ac:spMkLst>
            <pc:docMk/>
            <pc:sldMk cId="0" sldId="258"/>
            <ac:spMk id="2" creationId="{00000000-0000-0000-0000-000000000000}"/>
          </ac:spMkLst>
        </pc:spChg>
        <pc:spChg chg="del">
          <ac:chgData name="Saaraah Bharat" userId="df8f7feb6ebb4efd" providerId="LiveId" clId="{52FA9AD3-7F49-413D-B2F0-23CE35846BDC}" dt="2026-10-21T16:56:15.746" v="61" actId="478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Saaraah Bharat" userId="df8f7feb6ebb4efd" providerId="LiveId" clId="{52FA9AD3-7F49-413D-B2F0-23CE35846BDC}" dt="2026-10-21T16:56:17.145" v="62" actId="478"/>
          <ac:spMkLst>
            <pc:docMk/>
            <pc:sldMk cId="0" sldId="258"/>
            <ac:spMk id="23" creationId="{46A7D9FA-7DBA-C454-128F-EF7D8482CBE1}"/>
          </ac:spMkLst>
        </pc:spChg>
      </pc:sldChg>
      <pc:sldChg chg="addSp delSp modSp mod">
        <pc:chgData name="Saaraah Bharat" userId="df8f7feb6ebb4efd" providerId="LiveId" clId="{52FA9AD3-7F49-413D-B2F0-23CE35846BDC}" dt="2026-10-21T16:56:31.181" v="66" actId="255"/>
        <pc:sldMkLst>
          <pc:docMk/>
          <pc:sldMk cId="0" sldId="259"/>
        </pc:sldMkLst>
        <pc:spChg chg="mod">
          <ac:chgData name="Saaraah Bharat" userId="df8f7feb6ebb4efd" providerId="LiveId" clId="{52FA9AD3-7F49-413D-B2F0-23CE35846BDC}" dt="2026-10-21T16:56:31.181" v="66" actId="255"/>
          <ac:spMkLst>
            <pc:docMk/>
            <pc:sldMk cId="0" sldId="259"/>
            <ac:spMk id="2" creationId="{00000000-0000-0000-0000-000000000000}"/>
          </ac:spMkLst>
        </pc:spChg>
        <pc:spChg chg="del">
          <ac:chgData name="Saaraah Bharat" userId="df8f7feb6ebb4efd" providerId="LiveId" clId="{52FA9AD3-7F49-413D-B2F0-23CE35846BDC}" dt="2026-10-21T16:56:24.919" v="64" actId="478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Saaraah Bharat" userId="df8f7feb6ebb4efd" providerId="LiveId" clId="{52FA9AD3-7F49-413D-B2F0-23CE35846BDC}" dt="2026-10-21T16:56:26.063" v="65" actId="478"/>
          <ac:spMkLst>
            <pc:docMk/>
            <pc:sldMk cId="0" sldId="259"/>
            <ac:spMk id="35" creationId="{85F6A0A3-956B-15A7-76B5-DC005E944215}"/>
          </ac:spMkLst>
        </pc:spChg>
      </pc:sldChg>
      <pc:sldChg chg="addSp delSp modSp mod">
        <pc:chgData name="Saaraah Bharat" userId="df8f7feb6ebb4efd" providerId="LiveId" clId="{52FA9AD3-7F49-413D-B2F0-23CE35846BDC}" dt="2026-10-21T16:56:40.913" v="69" actId="255"/>
        <pc:sldMkLst>
          <pc:docMk/>
          <pc:sldMk cId="0" sldId="260"/>
        </pc:sldMkLst>
        <pc:spChg chg="mod">
          <ac:chgData name="Saaraah Bharat" userId="df8f7feb6ebb4efd" providerId="LiveId" clId="{52FA9AD3-7F49-413D-B2F0-23CE35846BDC}" dt="2026-10-21T16:56:40.913" v="69" actId="255"/>
          <ac:spMkLst>
            <pc:docMk/>
            <pc:sldMk cId="0" sldId="260"/>
            <ac:spMk id="2" creationId="{00000000-0000-0000-0000-000000000000}"/>
          </ac:spMkLst>
        </pc:spChg>
        <pc:spChg chg="del">
          <ac:chgData name="Saaraah Bharat" userId="df8f7feb6ebb4efd" providerId="LiveId" clId="{52FA9AD3-7F49-413D-B2F0-23CE35846BDC}" dt="2026-10-21T16:56:35.268" v="67" actId="478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Saaraah Bharat" userId="df8f7feb6ebb4efd" providerId="LiveId" clId="{52FA9AD3-7F49-413D-B2F0-23CE35846BDC}" dt="2026-10-21T16:56:36.370" v="68" actId="478"/>
          <ac:spMkLst>
            <pc:docMk/>
            <pc:sldMk cId="0" sldId="260"/>
            <ac:spMk id="55" creationId="{B2443AD4-91EB-0BEC-9305-4522DEE5DA0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CRF entity F1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INCIDENT</c:v>
                </c:pt>
                <c:pt idx="1">
                  <c:v>MMSI</c:v>
                </c:pt>
                <c:pt idx="2">
                  <c:v>POB</c:v>
                </c:pt>
                <c:pt idx="3">
                  <c:v>POSITION</c:v>
                </c:pt>
                <c:pt idx="4">
                  <c:v>VESSEL</c:v>
                </c:pt>
                <c:pt idx="5">
                  <c:v>VESSEL TYPE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</c:v>
                </c:pt>
                <c:pt idx="1">
                  <c:v>0.85</c:v>
                </c:pt>
                <c:pt idx="2">
                  <c:v>0.95</c:v>
                </c:pt>
                <c:pt idx="3">
                  <c:v>0.98</c:v>
                </c:pt>
                <c:pt idx="4">
                  <c:v>0.89</c:v>
                </c:pt>
                <c:pt idx="5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15-411D-A394-723977A343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200000000000001"/>
          <c:min val="0"/>
        </c:scaling>
        <c:delete val="1"/>
        <c:axPos val="b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Calibration error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ECE</c:v>
                </c:pt>
              </c:strCache>
            </c:strRef>
          </c:tx>
          <c:spPr>
            <a:solidFill>
              <a:srgbClr val="8FB1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FF-429E-93FF-3992E6A03D0B}"/>
              </c:ext>
            </c:extLst>
          </c:dPt>
          <c:dPt>
            <c:idx val="1"/>
            <c:invertIfNegative val="0"/>
            <c:bubble3D val="0"/>
            <c:spPr>
              <a:solidFill>
                <a:srgbClr val="2E6F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FF-429E-93FF-3992E6A03D0B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Uncalibrated</c:v>
                </c:pt>
                <c:pt idx="1">
                  <c:v>Temperature-scaled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9.1999999999999998E-2</c:v>
                </c:pt>
                <c:pt idx="1">
                  <c:v>7.2999999999999995E-2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FF-429E-93FF-3992E6A03D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Reliability diagram: accuracy per confidence bin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calibration</c:v>
                </c:pt>
              </c:strCache>
            </c:strRef>
          </c:tx>
          <c:spPr>
            <a:ln w="31750" cap="flat">
              <a:solidFill>
                <a:srgbClr val="C9B48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9B48A"/>
              </a:solidFill>
              <a:ln w="9525" cap="flat">
                <a:solidFill>
                  <a:srgbClr val="C9B48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0.3–0.4</c:v>
                </c:pt>
                <c:pt idx="1">
                  <c:v>0.4–0.5</c:v>
                </c:pt>
                <c:pt idx="2">
                  <c:v>0.5–0.6</c:v>
                </c:pt>
                <c:pt idx="3">
                  <c:v>0.6–0.7</c:v>
                </c:pt>
                <c:pt idx="4">
                  <c:v>0.7–0.8</c:v>
                </c:pt>
                <c:pt idx="5">
                  <c:v>0.8–0.9</c:v>
                </c:pt>
                <c:pt idx="6">
                  <c:v>0.9–1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0.35</c:v>
                </c:pt>
                <c:pt idx="1">
                  <c:v>0.45</c:v>
                </c:pt>
                <c:pt idx="2">
                  <c:v>0.55000000000000004</c:v>
                </c:pt>
                <c:pt idx="3">
                  <c:v>0.65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6C-4DA1-A0E9-7695805143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Uncalibrated</c:v>
                </c:pt>
              </c:strCache>
            </c:strRef>
          </c:tx>
          <c:spPr>
            <a:ln w="31750" cap="flat">
              <a:solidFill>
                <a:srgbClr val="8FB1C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8FB1CC"/>
              </a:solidFill>
              <a:ln w="9525" cap="flat">
                <a:solidFill>
                  <a:srgbClr val="8FB1C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0.3–0.4</c:v>
                </c:pt>
                <c:pt idx="1">
                  <c:v>0.4–0.5</c:v>
                </c:pt>
                <c:pt idx="2">
                  <c:v>0.5–0.6</c:v>
                </c:pt>
                <c:pt idx="3">
                  <c:v>0.6–0.7</c:v>
                </c:pt>
                <c:pt idx="4">
                  <c:v>0.7–0.8</c:v>
                </c:pt>
                <c:pt idx="5">
                  <c:v>0.8–0.9</c:v>
                </c:pt>
                <c:pt idx="6">
                  <c:v>0.9–1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0.38</c:v>
                </c:pt>
                <c:pt idx="1">
                  <c:v>0.59</c:v>
                </c:pt>
                <c:pt idx="2">
                  <c:v>0.63</c:v>
                </c:pt>
                <c:pt idx="3">
                  <c:v>0.75</c:v>
                </c:pt>
                <c:pt idx="4">
                  <c:v>0.69</c:v>
                </c:pt>
                <c:pt idx="5">
                  <c:v>0.67</c:v>
                </c:pt>
                <c:pt idx="6">
                  <c:v>0.93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6C-4DA1-A0E9-7695805143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Temperature-scaled</c:v>
                </c:pt>
              </c:strCache>
            </c:strRef>
          </c:tx>
          <c:spPr>
            <a:ln w="31750" cap="flat">
              <a:solidFill>
                <a:srgbClr val="2E6F9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E6F95"/>
              </a:solidFill>
              <a:ln w="9525" cap="flat">
                <a:solidFill>
                  <a:srgbClr val="2E6F9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0.3–0.4</c:v>
                </c:pt>
                <c:pt idx="1">
                  <c:v>0.4–0.5</c:v>
                </c:pt>
                <c:pt idx="2">
                  <c:v>0.5–0.6</c:v>
                </c:pt>
                <c:pt idx="3">
                  <c:v>0.6–0.7</c:v>
                </c:pt>
                <c:pt idx="4">
                  <c:v>0.7–0.8</c:v>
                </c:pt>
                <c:pt idx="5">
                  <c:v>0.8–0.9</c:v>
                </c:pt>
                <c:pt idx="6">
                  <c:v>0.9–1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</c:v>
                </c:pt>
                <c:pt idx="1">
                  <c:v>0.74</c:v>
                </c:pt>
                <c:pt idx="2">
                  <c:v>0.66</c:v>
                </c:pt>
                <c:pt idx="3">
                  <c:v>0.68</c:v>
                </c:pt>
                <c:pt idx="4">
                  <c:v>0.81</c:v>
                </c:pt>
                <c:pt idx="5">
                  <c:v>0.97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6C-4DA1-A0E9-769580514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Word error rate, real speech through a simulated VHF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Whisper-small</c:v>
                </c:pt>
              </c:strCache>
            </c:strRef>
          </c:tx>
          <c:spPr>
            <a:solidFill>
              <a:srgbClr val="8FB1C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Hindi</c:v>
                </c:pt>
                <c:pt idx="1">
                  <c:v>Tamil</c:v>
                </c:pt>
                <c:pt idx="2">
                  <c:v>Malayalam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0.73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F3-4F63-8E08-6F6883FB15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Indic Whisper</c:v>
                </c:pt>
              </c:strCache>
            </c:strRef>
          </c:tx>
          <c:spPr>
            <a:solidFill>
              <a:srgbClr val="3D8B7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Hindi</c:v>
                </c:pt>
                <c:pt idx="1">
                  <c:v>Tamil</c:v>
                </c:pt>
                <c:pt idx="2">
                  <c:v>Malayalam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0.28000000000000003</c:v>
                </c:pt>
                <c:pt idx="1">
                  <c:v>0.37</c:v>
                </c:pt>
                <c:pt idx="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F3-4F63-8E08-6F6883FB15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1"/>
        <c:axPos val="l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Field accuracy on SeaAlert, noisiest ASR transcripts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CRF only</c:v>
                </c:pt>
              </c:strCache>
            </c:strRef>
          </c:tx>
          <c:spPr>
            <a:solidFill>
              <a:srgbClr val="8FB1C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Vessel</c:v>
                </c:pt>
                <c:pt idx="1">
                  <c:v>Position</c:v>
                </c:pt>
                <c:pt idx="2">
                  <c:v>Persons on board</c:v>
                </c:pt>
                <c:pt idx="3">
                  <c:v>MMSI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0.55000000000000004</c:v>
                </c:pt>
                <c:pt idx="2">
                  <c:v>0.55000000000000004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E1-4A90-9934-46C964AD85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CRF + LLM, routing learned on dev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Vessel</c:v>
                </c:pt>
                <c:pt idx="1">
                  <c:v>Position</c:v>
                </c:pt>
                <c:pt idx="2">
                  <c:v>Persons on board</c:v>
                </c:pt>
                <c:pt idx="3">
                  <c:v>MMSI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</c:v>
                </c:pt>
                <c:pt idx="1">
                  <c:v>0.64</c:v>
                </c:pt>
                <c:pt idx="2">
                  <c:v>0.69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E1-4A90-9934-46C964AD85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Mean position error after drifting (nautical miles)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 stays put</c:v>
                </c:pt>
              </c:strCache>
            </c:strRef>
          </c:tx>
          <c:spPr>
            <a:solidFill>
              <a:srgbClr val="C9B48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 h</c:v>
                </c:pt>
                <c:pt idx="1">
                  <c:v>12 h</c:v>
                </c:pt>
                <c:pt idx="2">
                  <c:v>24 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2.79</c:v>
                </c:pt>
                <c:pt idx="1">
                  <c:v>5.48</c:v>
                </c:pt>
                <c:pt idx="2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90-42CA-9D98-1DA638FD91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Physics</c:v>
                </c:pt>
              </c:strCache>
            </c:strRef>
          </c:tx>
          <c:spPr>
            <a:solidFill>
              <a:srgbClr val="8FB1C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 h</c:v>
                </c:pt>
                <c:pt idx="1">
                  <c:v>12 h</c:v>
                </c:pt>
                <c:pt idx="2">
                  <c:v>24 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4.68</c:v>
                </c:pt>
                <c:pt idx="2">
                  <c:v>9.08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90-42CA-9D98-1DA638FD91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Physics + LightGBM</c:v>
                </c:pt>
              </c:strCache>
            </c:strRef>
          </c:tx>
          <c:spPr>
            <a:solidFill>
              <a:srgbClr val="3D8B7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 h</c:v>
                </c:pt>
                <c:pt idx="1">
                  <c:v>12 h</c:v>
                </c:pt>
                <c:pt idx="2">
                  <c:v>24 h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2.41</c:v>
                </c:pt>
                <c:pt idx="1">
                  <c:v>4.66</c:v>
                </c:pt>
                <c:pt idx="2">
                  <c:v>8.89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90-42CA-9D98-1DA638FD91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6"/>
                </a:solidFill>
                <a:latin typeface="+mn-lt"/>
              </a:rPr>
              <a:t>MARTTS held-out test dialogues (DLR, n = 177)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</c:v>
                </c:pt>
              </c:strCache>
            </c:strRef>
          </c:tx>
          <c:spPr>
            <a:solidFill>
              <a:srgbClr val="8FB1C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Vessel name</c:v>
                </c:pt>
                <c:pt idx="1">
                  <c:v>MMSI</c:v>
                </c:pt>
                <c:pt idx="2">
                  <c:v>Position ≤ 1 nm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0.44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C4-48C1-B375-F99B75AD74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fixes found on the dev split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Vessel name</c:v>
                </c:pt>
                <c:pt idx="1">
                  <c:v>MMSI</c:v>
                </c:pt>
                <c:pt idx="2">
                  <c:v>Position ≤ 1 nm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0.37</c:v>
                </c:pt>
                <c:pt idx="1">
                  <c:v>0.82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C4-48C1-B375-F99B75AD74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1"/>
        <c:axPos val="l"/>
        <c:majorGridlines>
          <c:spPr>
            <a:ln w="9525" cap="flat">
              <a:solidFill>
                <a:srgbClr val="E3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91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 distress call comes in on channel 16, possibly in Hindi, Tamil or Malayalam, over a noisy radio. The system turns it into a structured, explained incident and a search plan in seconds, and the operator verifies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public labelled corpus for this, which is why the project generates its own labelled data and validates on external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distinct methods. Stress that each has a baseline and a held-out evaluation, not just an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Maritime Distress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dar ring 5"/>
          <p:cNvSpPr/>
          <p:nvPr/>
        </p:nvSpPr>
        <p:spPr>
          <a:xfrm>
            <a:off x="6858000" y="594360"/>
            <a:ext cx="5669280" cy="5669280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10000"/>
              </a:srgbClr>
            </a:solidFill>
            <a:prstDash val="solid"/>
          </a:ln>
        </p:spPr>
      </p:sp>
      <p:sp>
        <p:nvSpPr>
          <p:cNvPr id="3" name="radar ring 4"/>
          <p:cNvSpPr/>
          <p:nvPr/>
        </p:nvSpPr>
        <p:spPr>
          <a:xfrm>
            <a:off x="7424928" y="1161288"/>
            <a:ext cx="4535424" cy="4535424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20000"/>
              </a:srgbClr>
            </a:solidFill>
            <a:prstDash val="solid"/>
          </a:ln>
        </p:spPr>
      </p:sp>
      <p:sp>
        <p:nvSpPr>
          <p:cNvPr id="4" name="radar ring 3"/>
          <p:cNvSpPr/>
          <p:nvPr/>
        </p:nvSpPr>
        <p:spPr>
          <a:xfrm>
            <a:off x="7991856" y="1728216"/>
            <a:ext cx="3401568" cy="3401568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30000"/>
              </a:srgbClr>
            </a:solidFill>
            <a:prstDash val="solid"/>
          </a:ln>
        </p:spPr>
      </p:sp>
      <p:sp>
        <p:nvSpPr>
          <p:cNvPr id="5" name="radar ring 2"/>
          <p:cNvSpPr/>
          <p:nvPr/>
        </p:nvSpPr>
        <p:spPr>
          <a:xfrm>
            <a:off x="8558784" y="2295144"/>
            <a:ext cx="2267712" cy="2267712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40000"/>
              </a:srgbClr>
            </a:solidFill>
            <a:prstDash val="solid"/>
          </a:ln>
        </p:spPr>
      </p:sp>
      <p:sp>
        <p:nvSpPr>
          <p:cNvPr id="6" name="radar ring 1"/>
          <p:cNvSpPr/>
          <p:nvPr/>
        </p:nvSpPr>
        <p:spPr>
          <a:xfrm>
            <a:off x="9125712" y="2862072"/>
            <a:ext cx="1133856" cy="1133856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50000"/>
              </a:srgbClr>
            </a:solidFill>
            <a:prstDash val="solid"/>
          </a:ln>
        </p:spPr>
      </p:sp>
      <p:sp>
        <p:nvSpPr>
          <p:cNvPr id="7" name="radar blip"/>
          <p:cNvSpPr/>
          <p:nvPr/>
        </p:nvSpPr>
        <p:spPr>
          <a:xfrm>
            <a:off x="9582912" y="3319272"/>
            <a:ext cx="219456" cy="219456"/>
          </a:xfrm>
          <a:prstGeom prst="ellipse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Maritime Distress Intelligence</a:t>
            </a:r>
            <a:endParaRPr lang="en-US" sz="4400" dirty="0"/>
          </a:p>
        </p:txBody>
      </p:sp>
      <p:sp>
        <p:nvSpPr>
          <p:cNvPr id="9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From a noisy multilingual VHF call to a verified incident and a search plan</a:t>
            </a:r>
            <a:endParaRPr lang="en-US" sz="1800" dirty="0"/>
          </a:p>
        </p:txBody>
      </p:sp>
      <p:sp>
        <p:nvSpPr>
          <p:cNvPr id="10" name="course line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Data Science course project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chemeClr val="accent2"/>
                </a:solidFill>
              </a:rPr>
              <a:t>THE PROBLEM</a:t>
            </a:r>
            <a:endParaRPr lang="en-US" sz="5400" dirty="0"/>
          </a:p>
        </p:txBody>
      </p:sp>
      <p:sp>
        <p:nvSpPr>
          <p:cNvPr id="4" name="problem card 1"/>
          <p:cNvSpPr/>
          <p:nvPr/>
        </p:nvSpPr>
        <p:spPr>
          <a:xfrm>
            <a:off x="640080" y="1920240"/>
            <a:ext cx="34290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blem stat 1"/>
          <p:cNvSpPr txBox="1"/>
          <p:nvPr/>
        </p:nvSpPr>
        <p:spPr>
          <a:xfrm>
            <a:off x="100584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problem label 1"/>
          <p:cNvSpPr txBox="1"/>
          <p:nvPr/>
        </p:nvSpPr>
        <p:spPr>
          <a:xfrm>
            <a:off x="1005840" y="3566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languages on the radio along the Indian coast: English, Hindi, Tamil, Malayalam</a:t>
            </a:r>
            <a:endParaRPr lang="en-US" sz="1600" dirty="0"/>
          </a:p>
        </p:txBody>
      </p:sp>
      <p:sp>
        <p:nvSpPr>
          <p:cNvPr id="7" name="problem card 2"/>
          <p:cNvSpPr/>
          <p:nvPr/>
        </p:nvSpPr>
        <p:spPr>
          <a:xfrm>
            <a:off x="4389120" y="1920240"/>
            <a:ext cx="34290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oblem stat 2"/>
          <p:cNvSpPr txBox="1"/>
          <p:nvPr/>
        </p:nvSpPr>
        <p:spPr>
          <a:xfrm>
            <a:off x="475488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problem label 2"/>
          <p:cNvSpPr txBox="1"/>
          <p:nvPr/>
        </p:nvSpPr>
        <p:spPr>
          <a:xfrm>
            <a:off x="4754880" y="3566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public labelled VHF distress-call datasets for Indian waters</a:t>
            </a:r>
            <a:endParaRPr lang="en-US" sz="1600" dirty="0"/>
          </a:p>
        </p:txBody>
      </p:sp>
      <p:sp>
        <p:nvSpPr>
          <p:cNvPr id="10" name="problem card 3"/>
          <p:cNvSpPr/>
          <p:nvPr/>
        </p:nvSpPr>
        <p:spPr>
          <a:xfrm>
            <a:off x="8138160" y="1920240"/>
            <a:ext cx="342900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oblem stat 3"/>
          <p:cNvSpPr txBox="1"/>
          <p:nvPr/>
        </p:nvSpPr>
        <p:spPr>
          <a:xfrm>
            <a:off x="850392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</a:t>
            </a:r>
            <a:endParaRPr lang="en-US" sz="6000" dirty="0"/>
          </a:p>
        </p:txBody>
      </p:sp>
      <p:sp>
        <p:nvSpPr>
          <p:cNvPr id="12" name="problem label 3"/>
          <p:cNvSpPr txBox="1"/>
          <p:nvPr/>
        </p:nvSpPr>
        <p:spPr>
          <a:xfrm>
            <a:off x="8503920" y="3566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drifting casualty can move 10+ nm; every hour widens the search</a:t>
            </a:r>
            <a:endParaRPr lang="en-US" sz="1600" dirty="0"/>
          </a:p>
        </p:txBody>
      </p:sp>
      <p:sp>
        <p:nvSpPr>
          <p:cNvPr id="13" name="problem takeaway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Operators must extract who, where, what and how many, under stress, from a few seconds of radio.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chemeClr val="accent2"/>
                </a:solidFill>
              </a:rPr>
              <a:t>THE PRODUCT</a:t>
            </a:r>
            <a:endParaRPr lang="en-US" sz="5400" dirty="0"/>
          </a:p>
        </p:txBody>
      </p:sp>
      <p:pic>
        <p:nvPicPr>
          <p:cNvPr id="4" name="console screenshot" descr="C:\Users\Lenovo\OneDrive\Desktop\Projects\Maritime_project\presentation\assets\console_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7680960" cy="4320540"/>
          </a:xfrm>
          <a:prstGeom prst="rect">
            <a:avLst/>
          </a:prstGeom>
        </p:spPr>
      </p:pic>
      <p:sp>
        <p:nvSpPr>
          <p:cNvPr id="5" name="step dot 1"/>
          <p:cNvSpPr/>
          <p:nvPr/>
        </p:nvSpPr>
        <p:spPr>
          <a:xfrm>
            <a:off x="86868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num 1"/>
          <p:cNvSpPr txBox="1"/>
          <p:nvPr/>
        </p:nvSpPr>
        <p:spPr>
          <a:xfrm>
            <a:off x="8686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tep head 1"/>
          <p:cNvSpPr txBox="1"/>
          <p:nvPr/>
        </p:nvSpPr>
        <p:spPr>
          <a:xfrm>
            <a:off x="92354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Listens</a:t>
            </a:r>
            <a:endParaRPr lang="en-US" sz="1700" dirty="0"/>
          </a:p>
        </p:txBody>
      </p:sp>
      <p:sp>
        <p:nvSpPr>
          <p:cNvPr id="8" name="step body 1"/>
          <p:cNvSpPr txBox="1"/>
          <p:nvPr/>
        </p:nvSpPr>
        <p:spPr>
          <a:xfrm>
            <a:off x="923544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Whisper ASR with fine-tuned Indic checkpoints</a:t>
            </a:r>
            <a:endParaRPr lang="en-US" sz="1250" dirty="0"/>
          </a:p>
        </p:txBody>
      </p:sp>
      <p:sp>
        <p:nvSpPr>
          <p:cNvPr id="9" name="step dot 2"/>
          <p:cNvSpPr/>
          <p:nvPr/>
        </p:nvSpPr>
        <p:spPr>
          <a:xfrm>
            <a:off x="8686800" y="27706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num 2"/>
          <p:cNvSpPr txBox="1"/>
          <p:nvPr/>
        </p:nvSpPr>
        <p:spPr>
          <a:xfrm>
            <a:off x="868680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tep head 2"/>
          <p:cNvSpPr txBox="1"/>
          <p:nvPr/>
        </p:nvSpPr>
        <p:spPr>
          <a:xfrm>
            <a:off x="923544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Extracts</a:t>
            </a:r>
            <a:endParaRPr lang="en-US" sz="1700" dirty="0"/>
          </a:p>
        </p:txBody>
      </p:sp>
      <p:sp>
        <p:nvSpPr>
          <p:cNvPr id="12" name="step body 2"/>
          <p:cNvSpPr txBox="1"/>
          <p:nvPr/>
        </p:nvSpPr>
        <p:spPr>
          <a:xfrm>
            <a:off x="9235440" y="3090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Vessel, MMSI, position, persons on board, incident type, with evidence</a:t>
            </a:r>
            <a:endParaRPr lang="en-US" sz="1250" dirty="0"/>
          </a:p>
        </p:txBody>
      </p:sp>
      <p:sp>
        <p:nvSpPr>
          <p:cNvPr id="13" name="step dot 3"/>
          <p:cNvSpPr/>
          <p:nvPr/>
        </p:nvSpPr>
        <p:spPr>
          <a:xfrm>
            <a:off x="8686800" y="3849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num 3"/>
          <p:cNvSpPr txBox="1"/>
          <p:nvPr/>
        </p:nvSpPr>
        <p:spPr>
          <a:xfrm>
            <a:off x="86868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tep head 3"/>
          <p:cNvSpPr txBox="1"/>
          <p:nvPr/>
        </p:nvSpPr>
        <p:spPr>
          <a:xfrm>
            <a:off x="9235440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Judges</a:t>
            </a:r>
            <a:endParaRPr lang="en-US" sz="1700" dirty="0"/>
          </a:p>
        </p:txBody>
      </p:sp>
      <p:sp>
        <p:nvSpPr>
          <p:cNvPr id="16" name="step body 3"/>
          <p:cNvSpPr txBox="1"/>
          <p:nvPr/>
        </p:nvSpPr>
        <p:spPr>
          <a:xfrm>
            <a:off x="9235440" y="41696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Severity with calibrated probabilities and a 90% set</a:t>
            </a:r>
            <a:endParaRPr lang="en-US" sz="1250" dirty="0"/>
          </a:p>
        </p:txBody>
      </p:sp>
      <p:sp>
        <p:nvSpPr>
          <p:cNvPr id="17" name="step dot 4"/>
          <p:cNvSpPr/>
          <p:nvPr/>
        </p:nvSpPr>
        <p:spPr>
          <a:xfrm>
            <a:off x="8686800" y="49286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tep num 4"/>
          <p:cNvSpPr txBox="1"/>
          <p:nvPr/>
        </p:nvSpPr>
        <p:spPr>
          <a:xfrm>
            <a:off x="868680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tep head 4"/>
          <p:cNvSpPr txBox="1"/>
          <p:nvPr/>
        </p:nvSpPr>
        <p:spPr>
          <a:xfrm>
            <a:off x="9235440" y="4882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Plans</a:t>
            </a:r>
            <a:endParaRPr lang="en-US" sz="1700" dirty="0"/>
          </a:p>
        </p:txBody>
      </p:sp>
      <p:sp>
        <p:nvSpPr>
          <p:cNvPr id="20" name="step body 4"/>
          <p:cNvSpPr txBox="1"/>
          <p:nvPr/>
        </p:nvSpPr>
        <p:spPr>
          <a:xfrm>
            <a:off x="9235440" y="52486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Drift forecast, search area and fastest assets</a:t>
            </a:r>
            <a:endParaRPr lang="en-US" sz="1250" dirty="0"/>
          </a:p>
        </p:txBody>
      </p:sp>
      <p:sp>
        <p:nvSpPr>
          <p:cNvPr id="21" name="human in loop note"/>
          <p:cNvSpPr txBox="1"/>
          <p:nvPr/>
        </p:nvSpPr>
        <p:spPr>
          <a:xfrm>
            <a:off x="640080" y="6035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5"/>
                </a:solidFill>
              </a:rPr>
              <a:t>The operator verifies every field. The system never dispatches on its 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chemeClr val="accent2"/>
                </a:solidFill>
              </a:rPr>
              <a:t>HOW IT WORKS</a:t>
            </a:r>
            <a:endParaRPr lang="en-US" sz="5400" dirty="0"/>
          </a:p>
        </p:txBody>
      </p:sp>
      <p:sp>
        <p:nvSpPr>
          <p:cNvPr id="4" name="stage Audio"/>
          <p:cNvSpPr/>
          <p:nvPr/>
        </p:nvSpPr>
        <p:spPr>
          <a:xfrm>
            <a:off x="640080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age label Audio"/>
          <p:cNvSpPr txBox="1"/>
          <p:nvPr/>
        </p:nvSpPr>
        <p:spPr>
          <a:xfrm>
            <a:off x="640080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Audio</a:t>
            </a:r>
            <a:endParaRPr lang="en-US" sz="1700" dirty="0"/>
          </a:p>
        </p:txBody>
      </p:sp>
      <p:sp>
        <p:nvSpPr>
          <p:cNvPr id="6" name="stage method Audio"/>
          <p:cNvSpPr txBox="1"/>
          <p:nvPr/>
        </p:nvSpPr>
        <p:spPr>
          <a:xfrm>
            <a:off x="640080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VHF channel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simulation</a:t>
            </a:r>
            <a:endParaRPr lang="en-US" sz="1250" dirty="0"/>
          </a:p>
        </p:txBody>
      </p:sp>
      <p:sp>
        <p:nvSpPr>
          <p:cNvPr id="7" name="arrow 1"/>
          <p:cNvSpPr/>
          <p:nvPr/>
        </p:nvSpPr>
        <p:spPr>
          <a:xfrm>
            <a:off x="2084832" y="2807208"/>
            <a:ext cx="109728" cy="20116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age Speech"/>
          <p:cNvSpPr/>
          <p:nvPr/>
        </p:nvSpPr>
        <p:spPr>
          <a:xfrm>
            <a:off x="2221992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age label Speech"/>
          <p:cNvSpPr txBox="1"/>
          <p:nvPr/>
        </p:nvSpPr>
        <p:spPr>
          <a:xfrm>
            <a:off x="2221992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Speech</a:t>
            </a:r>
            <a:endParaRPr lang="en-US" sz="1700" dirty="0"/>
          </a:p>
        </p:txBody>
      </p:sp>
      <p:sp>
        <p:nvSpPr>
          <p:cNvPr id="10" name="stage method Speech"/>
          <p:cNvSpPr txBox="1"/>
          <p:nvPr/>
        </p:nvSpPr>
        <p:spPr>
          <a:xfrm>
            <a:off x="2221992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Whisper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Indic fine-tunes</a:t>
            </a:r>
            <a:endParaRPr lang="en-US" sz="1250" dirty="0"/>
          </a:p>
        </p:txBody>
      </p:sp>
      <p:sp>
        <p:nvSpPr>
          <p:cNvPr id="11" name="arrow 2"/>
          <p:cNvSpPr/>
          <p:nvPr/>
        </p:nvSpPr>
        <p:spPr>
          <a:xfrm>
            <a:off x="3666744" y="2807208"/>
            <a:ext cx="109728" cy="20116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stage Entities"/>
          <p:cNvSpPr/>
          <p:nvPr/>
        </p:nvSpPr>
        <p:spPr>
          <a:xfrm>
            <a:off x="3803904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stage label Entities"/>
          <p:cNvSpPr txBox="1"/>
          <p:nvPr/>
        </p:nvSpPr>
        <p:spPr>
          <a:xfrm>
            <a:off x="3803904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Entities</a:t>
            </a:r>
            <a:endParaRPr lang="en-US" sz="1700" dirty="0"/>
          </a:p>
        </p:txBody>
      </p:sp>
      <p:sp>
        <p:nvSpPr>
          <p:cNvPr id="14" name="stage method Entities"/>
          <p:cNvSpPr txBox="1"/>
          <p:nvPr/>
        </p:nvSpPr>
        <p:spPr>
          <a:xfrm>
            <a:off x="3803904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CRF sequence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labelling</a:t>
            </a:r>
            <a:endParaRPr lang="en-US" sz="1250" dirty="0"/>
          </a:p>
        </p:txBody>
      </p:sp>
      <p:sp>
        <p:nvSpPr>
          <p:cNvPr id="15" name="arrow 3"/>
          <p:cNvSpPr/>
          <p:nvPr/>
        </p:nvSpPr>
        <p:spPr>
          <a:xfrm>
            <a:off x="5248656" y="2807208"/>
            <a:ext cx="109728" cy="20116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tage Incident"/>
          <p:cNvSpPr/>
          <p:nvPr/>
        </p:nvSpPr>
        <p:spPr>
          <a:xfrm>
            <a:off x="5385816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age label Incident"/>
          <p:cNvSpPr txBox="1"/>
          <p:nvPr/>
        </p:nvSpPr>
        <p:spPr>
          <a:xfrm>
            <a:off x="5385816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Incident</a:t>
            </a:r>
            <a:endParaRPr lang="en-US" sz="1700" dirty="0"/>
          </a:p>
        </p:txBody>
      </p:sp>
      <p:sp>
        <p:nvSpPr>
          <p:cNvPr id="18" name="stage method Incident"/>
          <p:cNvSpPr txBox="1"/>
          <p:nvPr/>
        </p:nvSpPr>
        <p:spPr>
          <a:xfrm>
            <a:off x="5385816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TF-IDF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logistic regression</a:t>
            </a:r>
            <a:endParaRPr lang="en-US" sz="1250" dirty="0"/>
          </a:p>
        </p:txBody>
      </p:sp>
      <p:sp>
        <p:nvSpPr>
          <p:cNvPr id="19" name="arrow 4"/>
          <p:cNvSpPr/>
          <p:nvPr/>
        </p:nvSpPr>
        <p:spPr>
          <a:xfrm>
            <a:off x="6830568" y="2807208"/>
            <a:ext cx="109728" cy="20116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age Severity"/>
          <p:cNvSpPr/>
          <p:nvPr/>
        </p:nvSpPr>
        <p:spPr>
          <a:xfrm>
            <a:off x="6967728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tage label Severity"/>
          <p:cNvSpPr txBox="1"/>
          <p:nvPr/>
        </p:nvSpPr>
        <p:spPr>
          <a:xfrm>
            <a:off x="6967728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Severity</a:t>
            </a:r>
            <a:endParaRPr lang="en-US" sz="1700" dirty="0"/>
          </a:p>
        </p:txBody>
      </p:sp>
      <p:sp>
        <p:nvSpPr>
          <p:cNvPr id="22" name="stage method Severity"/>
          <p:cNvSpPr txBox="1"/>
          <p:nvPr/>
        </p:nvSpPr>
        <p:spPr>
          <a:xfrm>
            <a:off x="6967728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Calibrated,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conformal sets</a:t>
            </a:r>
            <a:endParaRPr lang="en-US" sz="1250" dirty="0"/>
          </a:p>
        </p:txBody>
      </p:sp>
      <p:sp>
        <p:nvSpPr>
          <p:cNvPr id="23" name="arrow 5"/>
          <p:cNvSpPr/>
          <p:nvPr/>
        </p:nvSpPr>
        <p:spPr>
          <a:xfrm>
            <a:off x="8412480" y="2807208"/>
            <a:ext cx="109728" cy="20116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tage Drift"/>
          <p:cNvSpPr/>
          <p:nvPr/>
        </p:nvSpPr>
        <p:spPr>
          <a:xfrm>
            <a:off x="8549640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age label Drift"/>
          <p:cNvSpPr txBox="1"/>
          <p:nvPr/>
        </p:nvSpPr>
        <p:spPr>
          <a:xfrm>
            <a:off x="8549640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Drift</a:t>
            </a:r>
            <a:endParaRPr lang="en-US" sz="1700" dirty="0"/>
          </a:p>
        </p:txBody>
      </p:sp>
      <p:sp>
        <p:nvSpPr>
          <p:cNvPr id="26" name="stage method Drift"/>
          <p:cNvSpPr txBox="1"/>
          <p:nvPr/>
        </p:nvSpPr>
        <p:spPr>
          <a:xfrm>
            <a:off x="8549640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Physics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LightGBM</a:t>
            </a:r>
            <a:endParaRPr lang="en-US" sz="1250" dirty="0"/>
          </a:p>
        </p:txBody>
      </p:sp>
      <p:sp>
        <p:nvSpPr>
          <p:cNvPr id="27" name="arrow 6"/>
          <p:cNvSpPr/>
          <p:nvPr/>
        </p:nvSpPr>
        <p:spPr>
          <a:xfrm>
            <a:off x="9994392" y="2807208"/>
            <a:ext cx="109728" cy="20116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stage Assets"/>
          <p:cNvSpPr/>
          <p:nvPr/>
        </p:nvSpPr>
        <p:spPr>
          <a:xfrm>
            <a:off x="10131552" y="2331720"/>
            <a:ext cx="14173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stage label Assets"/>
          <p:cNvSpPr txBox="1"/>
          <p:nvPr/>
        </p:nvSpPr>
        <p:spPr>
          <a:xfrm>
            <a:off x="10131552" y="26791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Assets</a:t>
            </a:r>
            <a:endParaRPr lang="en-US" sz="1700" dirty="0"/>
          </a:p>
        </p:txBody>
      </p:sp>
      <p:sp>
        <p:nvSpPr>
          <p:cNvPr id="30" name="stage method Assets"/>
          <p:cNvSpPr txBox="1"/>
          <p:nvPr/>
        </p:nvSpPr>
        <p:spPr>
          <a:xfrm>
            <a:off x="10131552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Hungarian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assignment</a:t>
            </a:r>
            <a:endParaRPr lang="en-US" sz="1250" dirty="0"/>
          </a:p>
        </p:txBody>
      </p:sp>
      <p:sp>
        <p:nvSpPr>
          <p:cNvPr id="31" name="llm band"/>
          <p:cNvSpPr/>
          <p:nvPr/>
        </p:nvSpPr>
        <p:spPr>
          <a:xfrm>
            <a:off x="640080" y="4572000"/>
            <a:ext cx="10927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llm band text"/>
          <p:cNvSpPr txBox="1"/>
          <p:nvPr/>
        </p:nvSpPr>
        <p:spPr>
          <a:xfrm>
            <a:off x="914400" y="46817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Optional LLM layer  </a:t>
            </a:r>
            <a:r>
              <a:rPr lang="en-US" sz="1500" dirty="0">
                <a:solidFill>
                  <a:schemeClr val="tx1"/>
                </a:solidFill>
              </a:rPr>
              <a:t>Qwen2.5-1.5B fills fields the CRF misses. Every LLM answer must quote the transcript, and our own parsers convert numbers, never the LLM.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chemeClr val="accent2"/>
                </a:solidFill>
              </a:rPr>
              <a:t>DATA SCIENCE DEPTH</a:t>
            </a:r>
            <a:endParaRPr lang="en-US" sz="5400" dirty="0"/>
          </a:p>
        </p:txBody>
      </p:sp>
      <p:sp>
        <p:nvSpPr>
          <p:cNvPr id="4" name="method head Learning models"/>
          <p:cNvSpPr/>
          <p:nvPr/>
        </p:nvSpPr>
        <p:spPr>
          <a:xfrm>
            <a:off x="640080" y="1691640"/>
            <a:ext cx="256032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method head text Learning models"/>
          <p:cNvSpPr txBox="1"/>
          <p:nvPr/>
        </p:nvSpPr>
        <p:spPr>
          <a:xfrm>
            <a:off x="822960" y="1691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Learning models  ·  6</a:t>
            </a:r>
            <a:endParaRPr lang="en-US" sz="1400" dirty="0"/>
          </a:p>
        </p:txBody>
      </p:sp>
      <p:sp>
        <p:nvSpPr>
          <p:cNvPr id="6" name="method Linear-chain CRF (NER)"/>
          <p:cNvSpPr/>
          <p:nvPr/>
        </p:nvSpPr>
        <p:spPr>
          <a:xfrm>
            <a:off x="640080" y="2423160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ethod text Linear-chain CRF (NER)"/>
          <p:cNvSpPr txBox="1"/>
          <p:nvPr/>
        </p:nvSpPr>
        <p:spPr>
          <a:xfrm>
            <a:off x="82296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Linear-chain CRF (NER)</a:t>
            </a:r>
            <a:endParaRPr lang="en-US" sz="1300" dirty="0"/>
          </a:p>
        </p:txBody>
      </p:sp>
      <p:sp>
        <p:nvSpPr>
          <p:cNvPr id="8" name="method TF-IDF + logistic regression"/>
          <p:cNvSpPr/>
          <p:nvPr/>
        </p:nvSpPr>
        <p:spPr>
          <a:xfrm>
            <a:off x="640080" y="2990088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thod text TF-IDF + logistic regression"/>
          <p:cNvSpPr txBox="1"/>
          <p:nvPr/>
        </p:nvSpPr>
        <p:spPr>
          <a:xfrm>
            <a:off x="822960" y="2990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TF-IDF + logistic regression</a:t>
            </a:r>
            <a:endParaRPr lang="en-US" sz="1300" dirty="0"/>
          </a:p>
        </p:txBody>
      </p:sp>
      <p:sp>
        <p:nvSpPr>
          <p:cNvPr id="10" name="method Ordinal vs multinomial regression"/>
          <p:cNvSpPr/>
          <p:nvPr/>
        </p:nvSpPr>
        <p:spPr>
          <a:xfrm>
            <a:off x="640080" y="3557016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ethod text Ordinal vs multinomial regression"/>
          <p:cNvSpPr txBox="1"/>
          <p:nvPr/>
        </p:nvSpPr>
        <p:spPr>
          <a:xfrm>
            <a:off x="822960" y="3557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Ordinal vs multinomial regression</a:t>
            </a:r>
            <a:endParaRPr lang="en-US" sz="1300" dirty="0"/>
          </a:p>
        </p:txBody>
      </p:sp>
      <p:sp>
        <p:nvSpPr>
          <p:cNvPr id="12" name="method LightGBM residual model"/>
          <p:cNvSpPr/>
          <p:nvPr/>
        </p:nvSpPr>
        <p:spPr>
          <a:xfrm>
            <a:off x="640080" y="4123944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ethod text LightGBM residual model"/>
          <p:cNvSpPr txBox="1"/>
          <p:nvPr/>
        </p:nvSpPr>
        <p:spPr>
          <a:xfrm>
            <a:off x="82296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LightGBM residual model</a:t>
            </a:r>
            <a:endParaRPr lang="en-US" sz="1300" dirty="0"/>
          </a:p>
        </p:txBody>
      </p:sp>
      <p:sp>
        <p:nvSpPr>
          <p:cNvPr id="14" name="method Whisper transfer learning"/>
          <p:cNvSpPr/>
          <p:nvPr/>
        </p:nvSpPr>
        <p:spPr>
          <a:xfrm>
            <a:off x="640080" y="4690872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ethod text Whisper transfer learning"/>
          <p:cNvSpPr txBox="1"/>
          <p:nvPr/>
        </p:nvSpPr>
        <p:spPr>
          <a:xfrm>
            <a:off x="822960" y="4690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Whisper transfer learning</a:t>
            </a:r>
            <a:endParaRPr lang="en-US" sz="1300" dirty="0"/>
          </a:p>
        </p:txBody>
      </p:sp>
      <p:sp>
        <p:nvSpPr>
          <p:cNvPr id="16" name="method Grammar-constrained LLM"/>
          <p:cNvSpPr/>
          <p:nvPr/>
        </p:nvSpPr>
        <p:spPr>
          <a:xfrm>
            <a:off x="640080" y="5257800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method text Grammar-constrained LLM"/>
          <p:cNvSpPr txBox="1"/>
          <p:nvPr/>
        </p:nvSpPr>
        <p:spPr>
          <a:xfrm>
            <a:off x="822960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Grammar-constrained LLM</a:t>
            </a:r>
            <a:endParaRPr lang="en-US" sz="1300" dirty="0"/>
          </a:p>
        </p:txBody>
      </p:sp>
      <p:sp>
        <p:nvSpPr>
          <p:cNvPr id="18" name="method head Uncertainty"/>
          <p:cNvSpPr/>
          <p:nvPr/>
        </p:nvSpPr>
        <p:spPr>
          <a:xfrm>
            <a:off x="3429000" y="1691640"/>
            <a:ext cx="256032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method head text Uncertainty"/>
          <p:cNvSpPr txBox="1"/>
          <p:nvPr/>
        </p:nvSpPr>
        <p:spPr>
          <a:xfrm>
            <a:off x="3611880" y="1691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Uncertainty  ·  5</a:t>
            </a:r>
            <a:endParaRPr lang="en-US" sz="1400" dirty="0"/>
          </a:p>
        </p:txBody>
      </p:sp>
      <p:sp>
        <p:nvSpPr>
          <p:cNvPr id="20" name="method Temperature scaling + ECE"/>
          <p:cNvSpPr/>
          <p:nvPr/>
        </p:nvSpPr>
        <p:spPr>
          <a:xfrm>
            <a:off x="3429000" y="2423160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method text Temperature scaling + ECE"/>
          <p:cNvSpPr txBox="1"/>
          <p:nvPr/>
        </p:nvSpPr>
        <p:spPr>
          <a:xfrm>
            <a:off x="36118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Temperature scaling + ECE</a:t>
            </a:r>
            <a:endParaRPr lang="en-US" sz="1300" dirty="0"/>
          </a:p>
        </p:txBody>
      </p:sp>
      <p:sp>
        <p:nvSpPr>
          <p:cNvPr id="22" name="method Split conformal prediction"/>
          <p:cNvSpPr/>
          <p:nvPr/>
        </p:nvSpPr>
        <p:spPr>
          <a:xfrm>
            <a:off x="3429000" y="2990088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method text Split conformal prediction"/>
          <p:cNvSpPr txBox="1"/>
          <p:nvPr/>
        </p:nvSpPr>
        <p:spPr>
          <a:xfrm>
            <a:off x="3611880" y="2990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Split conformal prediction</a:t>
            </a:r>
            <a:endParaRPr lang="en-US" sz="1300" dirty="0"/>
          </a:p>
        </p:txBody>
      </p:sp>
      <p:sp>
        <p:nvSpPr>
          <p:cNvPr id="24" name="method Conformal search radius"/>
          <p:cNvSpPr/>
          <p:nvPr/>
        </p:nvSpPr>
        <p:spPr>
          <a:xfrm>
            <a:off x="3429000" y="3557016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method text Conformal search radius"/>
          <p:cNvSpPr txBox="1"/>
          <p:nvPr/>
        </p:nvSpPr>
        <p:spPr>
          <a:xfrm>
            <a:off x="3611880" y="3557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Conformal search radius</a:t>
            </a:r>
            <a:endParaRPr lang="en-US" sz="1300" dirty="0"/>
          </a:p>
        </p:txBody>
      </p:sp>
      <p:sp>
        <p:nvSpPr>
          <p:cNvPr id="26" name="method Bootstrap confidence intervals"/>
          <p:cNvSpPr/>
          <p:nvPr/>
        </p:nvSpPr>
        <p:spPr>
          <a:xfrm>
            <a:off x="3429000" y="4123944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method text Bootstrap confidence intervals"/>
          <p:cNvSpPr txBox="1"/>
          <p:nvPr/>
        </p:nvSpPr>
        <p:spPr>
          <a:xfrm>
            <a:off x="361188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Bootstrap confidence intervals</a:t>
            </a:r>
            <a:endParaRPr lang="en-US" sz="1300" dirty="0"/>
          </a:p>
        </p:txBody>
      </p:sp>
      <p:sp>
        <p:nvSpPr>
          <p:cNvPr id="28" name="method Exact linear SHAP"/>
          <p:cNvSpPr/>
          <p:nvPr/>
        </p:nvSpPr>
        <p:spPr>
          <a:xfrm>
            <a:off x="3429000" y="4690872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ethod text Exact linear SHAP"/>
          <p:cNvSpPr txBox="1"/>
          <p:nvPr/>
        </p:nvSpPr>
        <p:spPr>
          <a:xfrm>
            <a:off x="3611880" y="4690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Exact linear SHAP</a:t>
            </a:r>
            <a:endParaRPr lang="en-US" sz="1300" dirty="0"/>
          </a:p>
        </p:txBody>
      </p:sp>
      <p:sp>
        <p:nvSpPr>
          <p:cNvPr id="30" name="method head Simulation"/>
          <p:cNvSpPr/>
          <p:nvPr/>
        </p:nvSpPr>
        <p:spPr>
          <a:xfrm>
            <a:off x="6217920" y="1691640"/>
            <a:ext cx="2560320" cy="566928"/>
          </a:xfrm>
          <a:prstGeom prst="roundRect">
            <a:avLst>
              <a:gd name="adj" fmla="val 161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method head text Simulation"/>
          <p:cNvSpPr txBox="1"/>
          <p:nvPr/>
        </p:nvSpPr>
        <p:spPr>
          <a:xfrm>
            <a:off x="6400800" y="1691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Simulation  ·  4</a:t>
            </a:r>
            <a:endParaRPr lang="en-US" sz="1400" dirty="0"/>
          </a:p>
        </p:txBody>
      </p:sp>
      <p:sp>
        <p:nvSpPr>
          <p:cNvPr id="32" name="method Synthetic data generator"/>
          <p:cNvSpPr/>
          <p:nvPr/>
        </p:nvSpPr>
        <p:spPr>
          <a:xfrm>
            <a:off x="6217920" y="2423160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method text Synthetic data generator"/>
          <p:cNvSpPr txBox="1"/>
          <p:nvPr/>
        </p:nvSpPr>
        <p:spPr>
          <a:xfrm>
            <a:off x="640080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Synthetic data generator</a:t>
            </a:r>
            <a:endParaRPr lang="en-US" sz="1300" dirty="0"/>
          </a:p>
        </p:txBody>
      </p:sp>
      <p:sp>
        <p:nvSpPr>
          <p:cNvPr id="34" name="method VHF signal processing"/>
          <p:cNvSpPr/>
          <p:nvPr/>
        </p:nvSpPr>
        <p:spPr>
          <a:xfrm>
            <a:off x="6217920" y="2990088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method text VHF signal processing"/>
          <p:cNvSpPr txBox="1"/>
          <p:nvPr/>
        </p:nvSpPr>
        <p:spPr>
          <a:xfrm>
            <a:off x="6400800" y="2990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VHF signal processing</a:t>
            </a:r>
            <a:endParaRPr lang="en-US" sz="1300" dirty="0"/>
          </a:p>
        </p:txBody>
      </p:sp>
      <p:sp>
        <p:nvSpPr>
          <p:cNvPr id="36" name="method Monte Carlo drift"/>
          <p:cNvSpPr/>
          <p:nvPr/>
        </p:nvSpPr>
        <p:spPr>
          <a:xfrm>
            <a:off x="6217920" y="3557016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method text Monte Carlo drift"/>
          <p:cNvSpPr txBox="1"/>
          <p:nvPr/>
        </p:nvSpPr>
        <p:spPr>
          <a:xfrm>
            <a:off x="6400800" y="3557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Monte Carlo drift</a:t>
            </a:r>
            <a:endParaRPr lang="en-US" sz="1300" dirty="0"/>
          </a:p>
        </p:txBody>
      </p:sp>
      <p:sp>
        <p:nvSpPr>
          <p:cNvPr id="38" name="method Hungarian assignment"/>
          <p:cNvSpPr/>
          <p:nvPr/>
        </p:nvSpPr>
        <p:spPr>
          <a:xfrm>
            <a:off x="6217920" y="4123944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method text Hungarian assignment"/>
          <p:cNvSpPr txBox="1"/>
          <p:nvPr/>
        </p:nvSpPr>
        <p:spPr>
          <a:xfrm>
            <a:off x="640080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Hungarian assignment</a:t>
            </a:r>
            <a:endParaRPr lang="en-US" sz="1300" dirty="0"/>
          </a:p>
        </p:txBody>
      </p:sp>
      <p:sp>
        <p:nvSpPr>
          <p:cNvPr id="40" name="method head Evaluation design"/>
          <p:cNvSpPr/>
          <p:nvPr/>
        </p:nvSpPr>
        <p:spPr>
          <a:xfrm>
            <a:off x="9006840" y="169164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7A6230"/>
          </a:solidFill>
          <a:ln w="12700">
            <a:solidFill>
              <a:srgbClr val="7A6230"/>
            </a:solidFill>
            <a:prstDash val="solid"/>
          </a:ln>
        </p:spPr>
      </p:sp>
      <p:sp>
        <p:nvSpPr>
          <p:cNvPr id="41" name="method head text Evaluation design"/>
          <p:cNvSpPr txBox="1"/>
          <p:nvPr/>
        </p:nvSpPr>
        <p:spPr>
          <a:xfrm>
            <a:off x="9189720" y="1691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Evaluation design  ·  5</a:t>
            </a:r>
            <a:endParaRPr lang="en-US" sz="1400" dirty="0"/>
          </a:p>
        </p:txBody>
      </p:sp>
      <p:sp>
        <p:nvSpPr>
          <p:cNvPr id="42" name="method Leakage-controlled splits"/>
          <p:cNvSpPr/>
          <p:nvPr/>
        </p:nvSpPr>
        <p:spPr>
          <a:xfrm>
            <a:off x="9006840" y="2423160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method text Leakage-controlled splits"/>
          <p:cNvSpPr txBox="1"/>
          <p:nvPr/>
        </p:nvSpPr>
        <p:spPr>
          <a:xfrm>
            <a:off x="918972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Leakage-controlled splits</a:t>
            </a:r>
            <a:endParaRPr lang="en-US" sz="1300" dirty="0"/>
          </a:p>
        </p:txBody>
      </p:sp>
      <p:sp>
        <p:nvSpPr>
          <p:cNvPr id="44" name="method Buoy-grouped cross-validation"/>
          <p:cNvSpPr/>
          <p:nvPr/>
        </p:nvSpPr>
        <p:spPr>
          <a:xfrm>
            <a:off x="9006840" y="2990088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method text Buoy-grouped cross-validation"/>
          <p:cNvSpPr txBox="1"/>
          <p:nvPr/>
        </p:nvSpPr>
        <p:spPr>
          <a:xfrm>
            <a:off x="9189720" y="2990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Buoy-grouped cross-validation</a:t>
            </a:r>
            <a:endParaRPr lang="en-US" sz="1300" dirty="0"/>
          </a:p>
        </p:txBody>
      </p:sp>
      <p:sp>
        <p:nvSpPr>
          <p:cNvPr id="46" name="method Dev / test protocol"/>
          <p:cNvSpPr/>
          <p:nvPr/>
        </p:nvSpPr>
        <p:spPr>
          <a:xfrm>
            <a:off x="9006840" y="3557016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method text Dev / test protocol"/>
          <p:cNvSpPr txBox="1"/>
          <p:nvPr/>
        </p:nvSpPr>
        <p:spPr>
          <a:xfrm>
            <a:off x="9189720" y="3557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Dev / test protocol</a:t>
            </a:r>
            <a:endParaRPr lang="en-US" sz="1300" dirty="0"/>
          </a:p>
        </p:txBody>
      </p:sp>
      <p:sp>
        <p:nvSpPr>
          <p:cNvPr id="48" name="method Robustness vs ASR noise"/>
          <p:cNvSpPr/>
          <p:nvPr/>
        </p:nvSpPr>
        <p:spPr>
          <a:xfrm>
            <a:off x="9006840" y="4123944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method text Robustness vs ASR noise"/>
          <p:cNvSpPr txBox="1"/>
          <p:nvPr/>
        </p:nvSpPr>
        <p:spPr>
          <a:xfrm>
            <a:off x="9189720" y="4123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Robustness vs ASR noise</a:t>
            </a:r>
            <a:endParaRPr lang="en-US" sz="1300" dirty="0"/>
          </a:p>
        </p:txBody>
      </p:sp>
      <p:sp>
        <p:nvSpPr>
          <p:cNvPr id="50" name="method Learned CRF/LLM routing"/>
          <p:cNvSpPr/>
          <p:nvPr/>
        </p:nvSpPr>
        <p:spPr>
          <a:xfrm>
            <a:off x="9006840" y="4690872"/>
            <a:ext cx="25603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method text Learned CRF/LLM routing"/>
          <p:cNvSpPr txBox="1"/>
          <p:nvPr/>
        </p:nvSpPr>
        <p:spPr>
          <a:xfrm>
            <a:off x="9189720" y="4690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Learned CRF/LLM routing</a:t>
            </a:r>
            <a:endParaRPr lang="en-US" sz="1300" dirty="0"/>
          </a:p>
        </p:txBody>
      </p:sp>
      <p:sp>
        <p:nvSpPr>
          <p:cNvPr id="52" name="depth takeaway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Every technique is evaluated against a baseline on held-out or external data.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DATA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we generate, realism we borrow</a:t>
            </a:r>
            <a:endParaRPr lang="en-US" sz="3400" dirty="0"/>
          </a:p>
        </p:txBody>
      </p:sp>
      <p:sp>
        <p:nvSpPr>
          <p:cNvPr id="4" name="synthetic panel"/>
          <p:cNvSpPr/>
          <p:nvPr/>
        </p:nvSpPr>
        <p:spPr>
          <a:xfrm>
            <a:off x="640080" y="1691640"/>
            <a:ext cx="420624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ynthetic count"/>
          <p:cNvSpPr txBox="1"/>
          <p:nvPr/>
        </p:nvSpPr>
        <p:spPr>
          <a:xfrm>
            <a:off x="960120" y="1920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5400" dirty="0"/>
          </a:p>
        </p:txBody>
      </p:sp>
      <p:sp>
        <p:nvSpPr>
          <p:cNvPr id="6" name="synthetic label"/>
          <p:cNvSpPr txBox="1"/>
          <p:nvPr/>
        </p:nvSpPr>
        <p:spPr>
          <a:xfrm>
            <a:off x="9601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synthetic distress dialogues</a:t>
            </a:r>
            <a:endParaRPr lang="en-US" sz="1600" dirty="0"/>
          </a:p>
        </p:txBody>
      </p:sp>
      <p:sp>
        <p:nvSpPr>
          <p:cNvPr id="7" name="synthetic bullets"/>
          <p:cNvSpPr txBox="1"/>
          <p:nvPr/>
        </p:nvSpPr>
        <p:spPr>
          <a:xfrm>
            <a:off x="960120" y="34290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Labels sampled before text, so spans are exact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4 languages × 3 caller styles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Held-out vessels, landmarks and phrasings</a:t>
            </a:r>
            <a:endParaRPr lang="en-US" sz="1400" dirty="0"/>
          </a:p>
        </p:txBody>
      </p:sp>
      <p:sp>
        <p:nvSpPr>
          <p:cNvPr id="8" name="dataset MARTTS"/>
          <p:cNvSpPr/>
          <p:nvPr/>
        </p:nvSpPr>
        <p:spPr>
          <a:xfrm>
            <a:off x="5166360" y="1691640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ataset name MARTTS"/>
          <p:cNvSpPr txBox="1"/>
          <p:nvPr/>
        </p:nvSpPr>
        <p:spPr>
          <a:xfrm>
            <a:off x="5349240" y="1801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MARTTS</a:t>
            </a:r>
            <a:endParaRPr lang="en-US" sz="1500" dirty="0"/>
          </a:p>
        </p:txBody>
      </p:sp>
      <p:sp>
        <p:nvSpPr>
          <p:cNvPr id="10" name="dataset desc MARTTS"/>
          <p:cNvSpPr txBox="1"/>
          <p:nvPr/>
        </p:nvSpPr>
        <p:spPr>
          <a:xfrm>
            <a:off x="5349240" y="2167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240 real radio dialogues</a:t>
            </a:r>
            <a:endParaRPr lang="en-US" sz="1250" dirty="0"/>
          </a:p>
        </p:txBody>
      </p:sp>
      <p:sp>
        <p:nvSpPr>
          <p:cNvPr id="11" name="dataset use MARTTS"/>
          <p:cNvSpPr txBox="1"/>
          <p:nvPr/>
        </p:nvSpPr>
        <p:spPr>
          <a:xfrm>
            <a:off x="713232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test</a:t>
            </a:r>
            <a:endParaRPr lang="en-US" sz="1050" dirty="0"/>
          </a:p>
        </p:txBody>
      </p:sp>
      <p:sp>
        <p:nvSpPr>
          <p:cNvPr id="12" name="dataset SeaAlert"/>
          <p:cNvSpPr/>
          <p:nvPr/>
        </p:nvSpPr>
        <p:spPr>
          <a:xfrm>
            <a:off x="8366760" y="1691640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ataset name SeaAlert"/>
          <p:cNvSpPr txBox="1"/>
          <p:nvPr/>
        </p:nvSpPr>
        <p:spPr>
          <a:xfrm>
            <a:off x="8549640" y="1801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SeaAlert</a:t>
            </a:r>
            <a:endParaRPr lang="en-US" sz="1500" dirty="0"/>
          </a:p>
        </p:txBody>
      </p:sp>
      <p:sp>
        <p:nvSpPr>
          <p:cNvPr id="14" name="dataset desc SeaAlert"/>
          <p:cNvSpPr txBox="1"/>
          <p:nvPr/>
        </p:nvSpPr>
        <p:spPr>
          <a:xfrm>
            <a:off x="8549640" y="21671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1,872 VHF messages + ASR</a:t>
            </a:r>
            <a:endParaRPr lang="en-US" sz="1250" dirty="0"/>
          </a:p>
        </p:txBody>
      </p:sp>
      <p:sp>
        <p:nvSpPr>
          <p:cNvPr id="15" name="dataset use SeaAlert"/>
          <p:cNvSpPr txBox="1"/>
          <p:nvPr/>
        </p:nvSpPr>
        <p:spPr>
          <a:xfrm>
            <a:off x="1033272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test</a:t>
            </a:r>
            <a:endParaRPr lang="en-US" sz="1050" dirty="0"/>
          </a:p>
        </p:txBody>
      </p:sp>
      <p:sp>
        <p:nvSpPr>
          <p:cNvPr id="16" name="dataset Kathbath"/>
          <p:cNvSpPr/>
          <p:nvPr/>
        </p:nvSpPr>
        <p:spPr>
          <a:xfrm>
            <a:off x="5166360" y="2761488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ataset name Kathbath"/>
          <p:cNvSpPr txBox="1"/>
          <p:nvPr/>
        </p:nvSpPr>
        <p:spPr>
          <a:xfrm>
            <a:off x="534924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Kathbath</a:t>
            </a:r>
            <a:endParaRPr lang="en-US" sz="1500" dirty="0"/>
          </a:p>
        </p:txBody>
      </p:sp>
      <p:sp>
        <p:nvSpPr>
          <p:cNvPr id="18" name="dataset desc Kathbath"/>
          <p:cNvSpPr txBox="1"/>
          <p:nvPr/>
        </p:nvSpPr>
        <p:spPr>
          <a:xfrm>
            <a:off x="5349240" y="32369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real Indian speech</a:t>
            </a:r>
            <a:endParaRPr lang="en-US" sz="1250" dirty="0"/>
          </a:p>
        </p:txBody>
      </p:sp>
      <p:sp>
        <p:nvSpPr>
          <p:cNvPr id="19" name="dataset use Kathbath"/>
          <p:cNvSpPr txBox="1"/>
          <p:nvPr/>
        </p:nvSpPr>
        <p:spPr>
          <a:xfrm>
            <a:off x="71323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test</a:t>
            </a:r>
            <a:endParaRPr lang="en-US" sz="1050" dirty="0"/>
          </a:p>
        </p:txBody>
      </p:sp>
      <p:sp>
        <p:nvSpPr>
          <p:cNvPr id="20" name="dataset MUSAN"/>
          <p:cNvSpPr/>
          <p:nvPr/>
        </p:nvSpPr>
        <p:spPr>
          <a:xfrm>
            <a:off x="8366760" y="2761488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dataset name MUSAN"/>
          <p:cNvSpPr txBox="1"/>
          <p:nvPr/>
        </p:nvSpPr>
        <p:spPr>
          <a:xfrm>
            <a:off x="854964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MUSAN</a:t>
            </a:r>
            <a:endParaRPr lang="en-US" sz="1500" dirty="0"/>
          </a:p>
        </p:txBody>
      </p:sp>
      <p:sp>
        <p:nvSpPr>
          <p:cNvPr id="22" name="dataset desc MUSAN"/>
          <p:cNvSpPr txBox="1"/>
          <p:nvPr/>
        </p:nvSpPr>
        <p:spPr>
          <a:xfrm>
            <a:off x="8549640" y="32369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real background noise</a:t>
            </a:r>
            <a:endParaRPr lang="en-US" sz="1250" dirty="0"/>
          </a:p>
        </p:txBody>
      </p:sp>
      <p:sp>
        <p:nvSpPr>
          <p:cNvPr id="23" name="dataset use MUSAN"/>
          <p:cNvSpPr txBox="1"/>
          <p:nvPr/>
        </p:nvSpPr>
        <p:spPr>
          <a:xfrm>
            <a:off x="103327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train</a:t>
            </a:r>
            <a:endParaRPr lang="en-US" sz="1050" dirty="0"/>
          </a:p>
        </p:txBody>
      </p:sp>
      <p:sp>
        <p:nvSpPr>
          <p:cNvPr id="24" name="dataset NOAA drifters"/>
          <p:cNvSpPr/>
          <p:nvPr/>
        </p:nvSpPr>
        <p:spPr>
          <a:xfrm>
            <a:off x="5166360" y="3831336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dataset name NOAA drifters"/>
          <p:cNvSpPr txBox="1"/>
          <p:nvPr/>
        </p:nvSpPr>
        <p:spPr>
          <a:xfrm>
            <a:off x="5349240" y="3941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NOAA drifters</a:t>
            </a:r>
            <a:endParaRPr lang="en-US" sz="1500" dirty="0"/>
          </a:p>
        </p:txBody>
      </p:sp>
      <p:sp>
        <p:nvSpPr>
          <p:cNvPr id="26" name="dataset desc NOAA drifters"/>
          <p:cNvSpPr txBox="1"/>
          <p:nvPr/>
        </p:nvSpPr>
        <p:spPr>
          <a:xfrm>
            <a:off x="5349240" y="43068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real buoy tracks</a:t>
            </a:r>
            <a:endParaRPr lang="en-US" sz="1250" dirty="0"/>
          </a:p>
        </p:txBody>
      </p:sp>
      <p:sp>
        <p:nvSpPr>
          <p:cNvPr id="27" name="dataset use NOAA drifters"/>
          <p:cNvSpPr txBox="1"/>
          <p:nvPr/>
        </p:nvSpPr>
        <p:spPr>
          <a:xfrm>
            <a:off x="713232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train/test</a:t>
            </a:r>
            <a:endParaRPr lang="en-US" sz="1050" dirty="0"/>
          </a:p>
        </p:txBody>
      </p:sp>
      <p:sp>
        <p:nvSpPr>
          <p:cNvPr id="28" name="dataset ERA5 + Copernicus"/>
          <p:cNvSpPr/>
          <p:nvPr/>
        </p:nvSpPr>
        <p:spPr>
          <a:xfrm>
            <a:off x="8366760" y="3831336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ataset name ERA5 + Copernicus"/>
          <p:cNvSpPr txBox="1"/>
          <p:nvPr/>
        </p:nvSpPr>
        <p:spPr>
          <a:xfrm>
            <a:off x="8549640" y="3941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ERA5 + Copernicus</a:t>
            </a:r>
            <a:endParaRPr lang="en-US" sz="1500" dirty="0"/>
          </a:p>
        </p:txBody>
      </p:sp>
      <p:sp>
        <p:nvSpPr>
          <p:cNvPr id="30" name="dataset desc ERA5 + Copernicus"/>
          <p:cNvSpPr txBox="1"/>
          <p:nvPr/>
        </p:nvSpPr>
        <p:spPr>
          <a:xfrm>
            <a:off x="8549640" y="43068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wind and currents</a:t>
            </a:r>
            <a:endParaRPr lang="en-US" sz="1250" dirty="0"/>
          </a:p>
        </p:txBody>
      </p:sp>
      <p:sp>
        <p:nvSpPr>
          <p:cNvPr id="31" name="dataset use ERA5 + Copernicus"/>
          <p:cNvSpPr txBox="1"/>
          <p:nvPr/>
        </p:nvSpPr>
        <p:spPr>
          <a:xfrm>
            <a:off x="1033272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input</a:t>
            </a:r>
            <a:endParaRPr lang="en-US" sz="1050" dirty="0"/>
          </a:p>
        </p:txBody>
      </p:sp>
      <p:sp>
        <p:nvSpPr>
          <p:cNvPr id="32" name="dataset MarineCadastre AIS"/>
          <p:cNvSpPr/>
          <p:nvPr/>
        </p:nvSpPr>
        <p:spPr>
          <a:xfrm>
            <a:off x="5166360" y="4901184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dataset name MarineCadastre AIS"/>
          <p:cNvSpPr txBox="1"/>
          <p:nvPr/>
        </p:nvSpPr>
        <p:spPr>
          <a:xfrm>
            <a:off x="5349240" y="5010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MarineCadastre AIS</a:t>
            </a:r>
            <a:endParaRPr lang="en-US" sz="1500" dirty="0"/>
          </a:p>
        </p:txBody>
      </p:sp>
      <p:sp>
        <p:nvSpPr>
          <p:cNvPr id="34" name="dataset desc MarineCadastre AIS"/>
          <p:cNvSpPr txBox="1"/>
          <p:nvPr/>
        </p:nvSpPr>
        <p:spPr>
          <a:xfrm>
            <a:off x="5349240" y="5376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real vessel speeds</a:t>
            </a:r>
            <a:endParaRPr lang="en-US" sz="1250" dirty="0"/>
          </a:p>
        </p:txBody>
      </p:sp>
      <p:sp>
        <p:nvSpPr>
          <p:cNvPr id="35" name="dataset use MarineCadastre AIS"/>
          <p:cNvSpPr txBox="1"/>
          <p:nvPr/>
        </p:nvSpPr>
        <p:spPr>
          <a:xfrm>
            <a:off x="713232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input</a:t>
            </a:r>
            <a:endParaRPr lang="en-US" sz="1050" dirty="0"/>
          </a:p>
        </p:txBody>
      </p:sp>
      <p:sp>
        <p:nvSpPr>
          <p:cNvPr id="36" name="dataset GEBCO"/>
          <p:cNvSpPr/>
          <p:nvPr/>
        </p:nvSpPr>
        <p:spPr>
          <a:xfrm>
            <a:off x="8366760" y="4901184"/>
            <a:ext cx="30175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dataset name GEBCO"/>
          <p:cNvSpPr txBox="1"/>
          <p:nvPr/>
        </p:nvSpPr>
        <p:spPr>
          <a:xfrm>
            <a:off x="8549640" y="5010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GEBCO</a:t>
            </a:r>
            <a:endParaRPr lang="en-US" sz="1500" dirty="0"/>
          </a:p>
        </p:txBody>
      </p:sp>
      <p:sp>
        <p:nvSpPr>
          <p:cNvPr id="38" name="dataset desc GEBCO"/>
          <p:cNvSpPr txBox="1"/>
          <p:nvPr/>
        </p:nvSpPr>
        <p:spPr>
          <a:xfrm>
            <a:off x="8549640" y="5376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bathymetry / land mask</a:t>
            </a:r>
            <a:endParaRPr lang="en-US" sz="1250" dirty="0"/>
          </a:p>
        </p:txBody>
      </p:sp>
      <p:sp>
        <p:nvSpPr>
          <p:cNvPr id="39" name="dataset use GEBCO"/>
          <p:cNvSpPr txBox="1"/>
          <p:nvPr/>
        </p:nvSpPr>
        <p:spPr>
          <a:xfrm>
            <a:off x="1033272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chemeClr val="accent2"/>
                </a:solidFill>
              </a:rPr>
              <a:t>input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LANGUAGE UNDERSTANDING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and incidents, on phrasings never seen in training</a:t>
            </a:r>
            <a:endParaRPr lang="en-US" sz="3400" dirty="0"/>
          </a:p>
        </p:txBody>
      </p:sp>
      <p:graphicFrame>
        <p:nvGraphicFramePr>
          <p:cNvPr id="4" name="ner f1 chart"/>
          <p:cNvGraphicFramePr/>
          <p:nvPr/>
        </p:nvGraphicFramePr>
        <p:xfrm>
          <a:off x="640080" y="164592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ner value"/>
          <p:cNvSpPr txBox="1"/>
          <p:nvPr/>
        </p:nvSpPr>
        <p:spPr>
          <a:xfrm>
            <a:off x="79552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400" dirty="0"/>
          </a:p>
        </p:txBody>
      </p:sp>
      <p:sp>
        <p:nvSpPr>
          <p:cNvPr id="6" name="ner label"/>
          <p:cNvSpPr txBox="1"/>
          <p:nvPr/>
        </p:nvSpPr>
        <p:spPr>
          <a:xfrm>
            <a:off x="7955280" y="2670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entity micro-F1 (95% CI 0.885–0.898)</a:t>
            </a:r>
            <a:endParaRPr lang="en-US" sz="1400" dirty="0"/>
          </a:p>
        </p:txBody>
      </p:sp>
      <p:sp>
        <p:nvSpPr>
          <p:cNvPr id="7" name="incident value"/>
          <p:cNvSpPr txBox="1"/>
          <p:nvPr/>
        </p:nvSpPr>
        <p:spPr>
          <a:xfrm>
            <a:off x="795528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400" dirty="0"/>
          </a:p>
        </p:txBody>
      </p:sp>
      <p:sp>
        <p:nvSpPr>
          <p:cNvPr id="8" name="incident label"/>
          <p:cNvSpPr txBox="1"/>
          <p:nvPr/>
        </p:nvSpPr>
        <p:spPr>
          <a:xfrm>
            <a:off x="7955280" y="42702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incident macro-F1, vs 0.80 for keyword rules</a:t>
            </a:r>
            <a:endParaRPr lang="en-US" sz="1400" dirty="0"/>
          </a:p>
        </p:txBody>
      </p:sp>
      <p:sp>
        <p:nvSpPr>
          <p:cNvPr id="9" name="cap token note"/>
          <p:cNvSpPr txBox="1"/>
          <p:nvPr/>
        </p:nvSpPr>
        <p:spPr>
          <a:xfrm>
            <a:off x="7955280" y="5074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</a:rPr>
              <a:t>Unseen vessel names: a shape feature stops the CRF memorising names (66% → 99.6% exact).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SEVERITY AND TRUST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Probabilities you can trust, sets that admit doubt</a:t>
            </a:r>
            <a:endParaRPr lang="en-US" sz="3400" dirty="0"/>
          </a:p>
        </p:txBody>
      </p:sp>
      <p:sp>
        <p:nvSpPr>
          <p:cNvPr id="4" name="accuracy value"/>
          <p:cNvSpPr txBox="1"/>
          <p:nvPr/>
        </p:nvSpPr>
        <p:spPr>
          <a:xfrm>
            <a:off x="640080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4400" dirty="0"/>
          </a:p>
        </p:txBody>
      </p:sp>
      <p:sp>
        <p:nvSpPr>
          <p:cNvPr id="5" name="accuracy label"/>
          <p:cNvSpPr txBox="1"/>
          <p:nvPr/>
        </p:nvSpPr>
        <p:spPr>
          <a:xfrm>
            <a:off x="640080" y="2670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severity accuracy vs 46% majority baseline</a:t>
            </a:r>
            <a:endParaRPr lang="en-US" sz="1400" dirty="0"/>
          </a:p>
        </p:txBody>
      </p:sp>
      <p:sp>
        <p:nvSpPr>
          <p:cNvPr id="6" name="coverage value"/>
          <p:cNvSpPr txBox="1"/>
          <p:nvPr/>
        </p:nvSpPr>
        <p:spPr>
          <a:xfrm>
            <a:off x="64008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400" dirty="0"/>
          </a:p>
        </p:txBody>
      </p:sp>
      <p:sp>
        <p:nvSpPr>
          <p:cNvPr id="7" name="coverage label"/>
          <p:cNvSpPr txBox="1"/>
          <p:nvPr/>
        </p:nvSpPr>
        <p:spPr>
          <a:xfrm>
            <a:off x="640080" y="4361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conformal 90% sets hit the true severity (mean size 1.40)</a:t>
            </a:r>
            <a:endParaRPr lang="en-US" sz="1400" dirty="0"/>
          </a:p>
        </p:txBody>
      </p:sp>
      <p:graphicFrame>
        <p:nvGraphicFramePr>
          <p:cNvPr id="8" name="ece chart"/>
          <p:cNvGraphicFramePr/>
          <p:nvPr/>
        </p:nvGraphicFramePr>
        <p:xfrm>
          <a:off x="4389120" y="1645920"/>
          <a:ext cx="3657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 card"/>
          <p:cNvSpPr/>
          <p:nvPr/>
        </p:nvSpPr>
        <p:spPr>
          <a:xfrm>
            <a:off x="8503920" y="1691640"/>
            <a:ext cx="3063240" cy="406908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 head"/>
          <p:cNvSpPr txBox="1"/>
          <p:nvPr/>
        </p:nvSpPr>
        <p:spPr>
          <a:xfrm>
            <a:off x="87782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Explained</a:t>
            </a:r>
            <a:endParaRPr lang="en-US" sz="1800" dirty="0"/>
          </a:p>
        </p:txBody>
      </p:sp>
      <p:sp>
        <p:nvSpPr>
          <p:cNvPr id="11" name="shap label 0"/>
          <p:cNvSpPr txBox="1"/>
          <p:nvPr/>
        </p:nvSpPr>
        <p:spPr>
          <a:xfrm>
            <a:off x="8778240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fire</a:t>
            </a:r>
            <a:endParaRPr lang="en-US" sz="1200" dirty="0"/>
          </a:p>
        </p:txBody>
      </p:sp>
      <p:sp>
        <p:nvSpPr>
          <p:cNvPr id="12" name="shap bar 0"/>
          <p:cNvSpPr/>
          <p:nvPr/>
        </p:nvSpPr>
        <p:spPr>
          <a:xfrm>
            <a:off x="8778240" y="2788920"/>
            <a:ext cx="2468880" cy="146304"/>
          </a:xfrm>
          <a:prstGeom prst="rect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13" name="shap label 1"/>
          <p:cNvSpPr txBox="1"/>
          <p:nvPr/>
        </p:nvSpPr>
        <p:spPr>
          <a:xfrm>
            <a:off x="8778240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man overboard</a:t>
            </a:r>
            <a:endParaRPr lang="en-US" sz="1200" dirty="0"/>
          </a:p>
        </p:txBody>
      </p:sp>
      <p:sp>
        <p:nvSpPr>
          <p:cNvPr id="14" name="shap bar 1"/>
          <p:cNvSpPr/>
          <p:nvPr/>
        </p:nvSpPr>
        <p:spPr>
          <a:xfrm>
            <a:off x="8778240" y="3355848"/>
            <a:ext cx="2283499" cy="146304"/>
          </a:xfrm>
          <a:prstGeom prst="rect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15" name="shap label 2"/>
          <p:cNvSpPr txBox="1"/>
          <p:nvPr/>
        </p:nvSpPr>
        <p:spPr>
          <a:xfrm>
            <a:off x="8778240" y="36484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capsizing</a:t>
            </a:r>
            <a:endParaRPr lang="en-US" sz="1200" dirty="0"/>
          </a:p>
        </p:txBody>
      </p:sp>
      <p:sp>
        <p:nvSpPr>
          <p:cNvPr id="16" name="shap bar 2"/>
          <p:cNvSpPr/>
          <p:nvPr/>
        </p:nvSpPr>
        <p:spPr>
          <a:xfrm>
            <a:off x="8778240" y="3922776"/>
            <a:ext cx="2245294" cy="146304"/>
          </a:xfrm>
          <a:prstGeom prst="rect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17" name="shap label 3"/>
          <p:cNvSpPr txBox="1"/>
          <p:nvPr/>
        </p:nvSpPr>
        <p:spPr>
          <a:xfrm>
            <a:off x="8778240" y="4215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 incident types</a:t>
            </a:r>
            <a:endParaRPr lang="en-US" sz="1200" dirty="0"/>
          </a:p>
        </p:txBody>
      </p:sp>
      <p:sp>
        <p:nvSpPr>
          <p:cNvPr id="18" name="shap bar 3"/>
          <p:cNvSpPr/>
          <p:nvPr/>
        </p:nvSpPr>
        <p:spPr>
          <a:xfrm>
            <a:off x="8778240" y="4489704"/>
            <a:ext cx="2199620" cy="146304"/>
          </a:xfrm>
          <a:prstGeom prst="rect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19" name="shap label 4"/>
          <p:cNvSpPr txBox="1"/>
          <p:nvPr/>
        </p:nvSpPr>
        <p:spPr>
          <a:xfrm>
            <a:off x="8778240" y="4782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flooding</a:t>
            </a:r>
            <a:endParaRPr lang="en-US" sz="1200" dirty="0"/>
          </a:p>
        </p:txBody>
      </p:sp>
      <p:sp>
        <p:nvSpPr>
          <p:cNvPr id="20" name="shap bar 4"/>
          <p:cNvSpPr/>
          <p:nvPr/>
        </p:nvSpPr>
        <p:spPr>
          <a:xfrm>
            <a:off x="8778240" y="5056632"/>
            <a:ext cx="2089490" cy="146304"/>
          </a:xfrm>
          <a:prstGeom prst="rect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21" name="shap note"/>
          <p:cNvSpPr txBox="1"/>
          <p:nvPr/>
        </p:nvSpPr>
        <p:spPr>
          <a:xfrm>
            <a:off x="877824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</a:rPr>
              <a:t>Linear SHAP: weights that raise HIGH/CRITICAL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SEVERITY DIAGNOSTICS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severity model goes wrong</a:t>
            </a:r>
            <a:endParaRPr lang="en-US" sz="3400" dirty="0"/>
          </a:p>
        </p:txBody>
      </p:sp>
      <p:sp>
        <p:nvSpPr>
          <p:cNvPr id="4" name="cm predicted axis"/>
          <p:cNvSpPr txBox="1"/>
          <p:nvPr/>
        </p:nvSpPr>
        <p:spPr>
          <a:xfrm>
            <a:off x="160020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785"/>
                </a:solidFill>
              </a:rPr>
              <a:t>Predicted</a:t>
            </a:r>
            <a:endParaRPr lang="en-US" sz="1200" dirty="0"/>
          </a:p>
        </p:txBody>
      </p:sp>
      <p:sp>
        <p:nvSpPr>
          <p:cNvPr id="5" name="cm true axis"/>
          <p:cNvSpPr txBox="1"/>
          <p:nvPr/>
        </p:nvSpPr>
        <p:spPr>
          <a:xfrm>
            <a:off x="502920" y="3419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5"/>
                </a:solidFill>
              </a:rPr>
              <a:t>True</a:t>
            </a:r>
            <a:endParaRPr lang="en-US" sz="1200" dirty="0"/>
          </a:p>
        </p:txBody>
      </p:sp>
      <p:sp>
        <p:nvSpPr>
          <p:cNvPr id="6" name="cm col LOW"/>
          <p:cNvSpPr txBox="1"/>
          <p:nvPr/>
        </p:nvSpPr>
        <p:spPr>
          <a:xfrm>
            <a:off x="1600200" y="18105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LOW</a:t>
            </a:r>
            <a:endParaRPr lang="en-US" sz="1050" dirty="0"/>
          </a:p>
        </p:txBody>
      </p:sp>
      <p:sp>
        <p:nvSpPr>
          <p:cNvPr id="7" name="cm col MODERATE"/>
          <p:cNvSpPr txBox="1"/>
          <p:nvPr/>
        </p:nvSpPr>
        <p:spPr>
          <a:xfrm>
            <a:off x="2560320" y="18105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MODERATE</a:t>
            </a:r>
            <a:endParaRPr lang="en-US" sz="1050" dirty="0"/>
          </a:p>
        </p:txBody>
      </p:sp>
      <p:sp>
        <p:nvSpPr>
          <p:cNvPr id="8" name="cm col HIGH"/>
          <p:cNvSpPr txBox="1"/>
          <p:nvPr/>
        </p:nvSpPr>
        <p:spPr>
          <a:xfrm>
            <a:off x="3520440" y="18105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HIGH</a:t>
            </a:r>
            <a:endParaRPr lang="en-US" sz="1050" dirty="0"/>
          </a:p>
        </p:txBody>
      </p:sp>
      <p:sp>
        <p:nvSpPr>
          <p:cNvPr id="9" name="cm col CRITICAL"/>
          <p:cNvSpPr txBox="1"/>
          <p:nvPr/>
        </p:nvSpPr>
        <p:spPr>
          <a:xfrm>
            <a:off x="4480560" y="181051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CRITICAL</a:t>
            </a:r>
            <a:endParaRPr lang="en-US" sz="1050" dirty="0"/>
          </a:p>
        </p:txBody>
      </p:sp>
      <p:sp>
        <p:nvSpPr>
          <p:cNvPr id="10" name="cm row LOW"/>
          <p:cNvSpPr txBox="1"/>
          <p:nvPr/>
        </p:nvSpPr>
        <p:spPr>
          <a:xfrm>
            <a:off x="640080" y="20574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1"/>
                </a:solidFill>
              </a:rPr>
              <a:t>LOW</a:t>
            </a:r>
            <a:endParaRPr lang="en-US" sz="1050" dirty="0"/>
          </a:p>
        </p:txBody>
      </p:sp>
      <p:sp>
        <p:nvSpPr>
          <p:cNvPr id="11" name="cm cell 00"/>
          <p:cNvSpPr/>
          <p:nvPr/>
        </p:nvSpPr>
        <p:spPr>
          <a:xfrm>
            <a:off x="1627632" y="2084832"/>
            <a:ext cx="905256" cy="694944"/>
          </a:xfrm>
          <a:prstGeom prst="rect">
            <a:avLst/>
          </a:prstGeom>
          <a:solidFill>
            <a:srgbClr val="3D8B74">
              <a:alpha val="9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12" name="cm text 00"/>
          <p:cNvSpPr txBox="1"/>
          <p:nvPr/>
        </p:nvSpPr>
        <p:spPr>
          <a:xfrm>
            <a:off x="1600200" y="20574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182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96%</a:t>
            </a:r>
            <a:endParaRPr lang="en-US" sz="1300" dirty="0"/>
          </a:p>
        </p:txBody>
      </p:sp>
      <p:sp>
        <p:nvSpPr>
          <p:cNvPr id="13" name="cm cell 01"/>
          <p:cNvSpPr/>
          <p:nvPr/>
        </p:nvSpPr>
        <p:spPr>
          <a:xfrm>
            <a:off x="2587752" y="2084832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14" name="cm text 01"/>
          <p:cNvSpPr txBox="1"/>
          <p:nvPr/>
        </p:nvSpPr>
        <p:spPr>
          <a:xfrm>
            <a:off x="2560320" y="20574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1%</a:t>
            </a:r>
            <a:endParaRPr lang="en-US" sz="1300" dirty="0"/>
          </a:p>
        </p:txBody>
      </p:sp>
      <p:sp>
        <p:nvSpPr>
          <p:cNvPr id="15" name="cm cell 02"/>
          <p:cNvSpPr/>
          <p:nvPr/>
        </p:nvSpPr>
        <p:spPr>
          <a:xfrm>
            <a:off x="3547872" y="2084832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16" name="cm text 02"/>
          <p:cNvSpPr txBox="1"/>
          <p:nvPr/>
        </p:nvSpPr>
        <p:spPr>
          <a:xfrm>
            <a:off x="3520440" y="20574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3%</a:t>
            </a:r>
            <a:endParaRPr lang="en-US" sz="1300" dirty="0"/>
          </a:p>
        </p:txBody>
      </p:sp>
      <p:sp>
        <p:nvSpPr>
          <p:cNvPr id="17" name="cm cell 03"/>
          <p:cNvSpPr/>
          <p:nvPr/>
        </p:nvSpPr>
        <p:spPr>
          <a:xfrm>
            <a:off x="4507992" y="2084832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18" name="cm text 03"/>
          <p:cNvSpPr txBox="1"/>
          <p:nvPr/>
        </p:nvSpPr>
        <p:spPr>
          <a:xfrm>
            <a:off x="4480560" y="20574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0%</a:t>
            </a:r>
            <a:endParaRPr lang="en-US" sz="1300" dirty="0"/>
          </a:p>
        </p:txBody>
      </p:sp>
      <p:sp>
        <p:nvSpPr>
          <p:cNvPr id="19" name="cm row MODERATE"/>
          <p:cNvSpPr txBox="1"/>
          <p:nvPr/>
        </p:nvSpPr>
        <p:spPr>
          <a:xfrm>
            <a:off x="640080" y="280720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1"/>
                </a:solidFill>
              </a:rPr>
              <a:t>MODERATE</a:t>
            </a:r>
            <a:endParaRPr lang="en-US" sz="1050" dirty="0"/>
          </a:p>
        </p:txBody>
      </p:sp>
      <p:sp>
        <p:nvSpPr>
          <p:cNvPr id="20" name="cm cell 10"/>
          <p:cNvSpPr/>
          <p:nvPr/>
        </p:nvSpPr>
        <p:spPr>
          <a:xfrm>
            <a:off x="1627632" y="2834640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21" name="cm text 10"/>
          <p:cNvSpPr txBox="1"/>
          <p:nvPr/>
        </p:nvSpPr>
        <p:spPr>
          <a:xfrm>
            <a:off x="1600200" y="280720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1%</a:t>
            </a:r>
            <a:endParaRPr lang="en-US" sz="1300" dirty="0"/>
          </a:p>
        </p:txBody>
      </p:sp>
      <p:sp>
        <p:nvSpPr>
          <p:cNvPr id="22" name="cm cell 11"/>
          <p:cNvSpPr/>
          <p:nvPr/>
        </p:nvSpPr>
        <p:spPr>
          <a:xfrm>
            <a:off x="2587752" y="2834640"/>
            <a:ext cx="905256" cy="694944"/>
          </a:xfrm>
          <a:prstGeom prst="rect">
            <a:avLst/>
          </a:prstGeom>
          <a:solidFill>
            <a:srgbClr val="3D8B74">
              <a:alpha val="90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23" name="cm text 11"/>
          <p:cNvSpPr txBox="1"/>
          <p:nvPr/>
        </p:nvSpPr>
        <p:spPr>
          <a:xfrm>
            <a:off x="2560320" y="280720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288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90%</a:t>
            </a:r>
            <a:endParaRPr lang="en-US" sz="1300" dirty="0"/>
          </a:p>
        </p:txBody>
      </p:sp>
      <p:sp>
        <p:nvSpPr>
          <p:cNvPr id="24" name="cm cell 12"/>
          <p:cNvSpPr/>
          <p:nvPr/>
        </p:nvSpPr>
        <p:spPr>
          <a:xfrm>
            <a:off x="3547872" y="2834640"/>
            <a:ext cx="905256" cy="694944"/>
          </a:xfrm>
          <a:prstGeom prst="rect">
            <a:avLst/>
          </a:prstGeom>
          <a:solidFill>
            <a:srgbClr val="1B3A5C">
              <a:alpha val="9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25" name="cm text 12"/>
          <p:cNvSpPr txBox="1"/>
          <p:nvPr/>
        </p:nvSpPr>
        <p:spPr>
          <a:xfrm>
            <a:off x="3520440" y="280720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29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9%</a:t>
            </a:r>
            <a:endParaRPr lang="en-US" sz="1300" dirty="0"/>
          </a:p>
        </p:txBody>
      </p:sp>
      <p:sp>
        <p:nvSpPr>
          <p:cNvPr id="26" name="cm cell 13"/>
          <p:cNvSpPr/>
          <p:nvPr/>
        </p:nvSpPr>
        <p:spPr>
          <a:xfrm>
            <a:off x="4507992" y="2834640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27" name="cm text 13"/>
          <p:cNvSpPr txBox="1"/>
          <p:nvPr/>
        </p:nvSpPr>
        <p:spPr>
          <a:xfrm>
            <a:off x="4480560" y="280720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0%</a:t>
            </a:r>
            <a:endParaRPr lang="en-US" sz="1300" dirty="0"/>
          </a:p>
        </p:txBody>
      </p:sp>
      <p:sp>
        <p:nvSpPr>
          <p:cNvPr id="28" name="cm row HIGH"/>
          <p:cNvSpPr txBox="1"/>
          <p:nvPr/>
        </p:nvSpPr>
        <p:spPr>
          <a:xfrm>
            <a:off x="640080" y="3557016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1"/>
                </a:solidFill>
              </a:rPr>
              <a:t>HIGH</a:t>
            </a:r>
            <a:endParaRPr lang="en-US" sz="1050" dirty="0"/>
          </a:p>
        </p:txBody>
      </p:sp>
      <p:sp>
        <p:nvSpPr>
          <p:cNvPr id="29" name="cm cell 20"/>
          <p:cNvSpPr/>
          <p:nvPr/>
        </p:nvSpPr>
        <p:spPr>
          <a:xfrm>
            <a:off x="1627632" y="3584448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30" name="cm text 20"/>
          <p:cNvSpPr txBox="1"/>
          <p:nvPr/>
        </p:nvSpPr>
        <p:spPr>
          <a:xfrm>
            <a:off x="1600200" y="355701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2%</a:t>
            </a:r>
            <a:endParaRPr lang="en-US" sz="1300" dirty="0"/>
          </a:p>
        </p:txBody>
      </p:sp>
      <p:sp>
        <p:nvSpPr>
          <p:cNvPr id="31" name="cm cell 21"/>
          <p:cNvSpPr/>
          <p:nvPr/>
        </p:nvSpPr>
        <p:spPr>
          <a:xfrm>
            <a:off x="2587752" y="3584448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32" name="cm text 21"/>
          <p:cNvSpPr txBox="1"/>
          <p:nvPr/>
        </p:nvSpPr>
        <p:spPr>
          <a:xfrm>
            <a:off x="2560320" y="355701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5%</a:t>
            </a:r>
            <a:endParaRPr lang="en-US" sz="1300" dirty="0"/>
          </a:p>
        </p:txBody>
      </p:sp>
      <p:sp>
        <p:nvSpPr>
          <p:cNvPr id="33" name="cm cell 22"/>
          <p:cNvSpPr/>
          <p:nvPr/>
        </p:nvSpPr>
        <p:spPr>
          <a:xfrm>
            <a:off x="3547872" y="3584448"/>
            <a:ext cx="905256" cy="694944"/>
          </a:xfrm>
          <a:prstGeom prst="rect">
            <a:avLst/>
          </a:prstGeom>
          <a:solidFill>
            <a:srgbClr val="3D8B74">
              <a:alpha val="92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34" name="cm text 22"/>
          <p:cNvSpPr txBox="1"/>
          <p:nvPr/>
        </p:nvSpPr>
        <p:spPr>
          <a:xfrm>
            <a:off x="3520440" y="355701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843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92%</a:t>
            </a:r>
            <a:endParaRPr lang="en-US" sz="1300" dirty="0"/>
          </a:p>
        </p:txBody>
      </p:sp>
      <p:sp>
        <p:nvSpPr>
          <p:cNvPr id="35" name="cm cell 23"/>
          <p:cNvSpPr/>
          <p:nvPr/>
        </p:nvSpPr>
        <p:spPr>
          <a:xfrm>
            <a:off x="4507992" y="3584448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36" name="cm text 23"/>
          <p:cNvSpPr txBox="1"/>
          <p:nvPr/>
        </p:nvSpPr>
        <p:spPr>
          <a:xfrm>
            <a:off x="4480560" y="355701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14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2%</a:t>
            </a:r>
            <a:endParaRPr lang="en-US" sz="1300" dirty="0"/>
          </a:p>
        </p:txBody>
      </p:sp>
      <p:sp>
        <p:nvSpPr>
          <p:cNvPr id="37" name="cm row CRITICAL"/>
          <p:cNvSpPr txBox="1"/>
          <p:nvPr/>
        </p:nvSpPr>
        <p:spPr>
          <a:xfrm>
            <a:off x="640080" y="4306824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tx1"/>
                </a:solidFill>
              </a:rPr>
              <a:t>CRITICAL</a:t>
            </a:r>
            <a:endParaRPr lang="en-US" sz="1050" dirty="0"/>
          </a:p>
        </p:txBody>
      </p:sp>
      <p:sp>
        <p:nvSpPr>
          <p:cNvPr id="38" name="cm cell 30"/>
          <p:cNvSpPr/>
          <p:nvPr/>
        </p:nvSpPr>
        <p:spPr>
          <a:xfrm>
            <a:off x="1627632" y="4334256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39" name="cm text 30"/>
          <p:cNvSpPr txBox="1"/>
          <p:nvPr/>
        </p:nvSpPr>
        <p:spPr>
          <a:xfrm>
            <a:off x="1600200" y="430682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11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2%</a:t>
            </a:r>
            <a:endParaRPr lang="en-US" sz="1300" dirty="0"/>
          </a:p>
        </p:txBody>
      </p:sp>
      <p:sp>
        <p:nvSpPr>
          <p:cNvPr id="40" name="cm cell 31"/>
          <p:cNvSpPr/>
          <p:nvPr/>
        </p:nvSpPr>
        <p:spPr>
          <a:xfrm>
            <a:off x="2587752" y="4334256"/>
            <a:ext cx="905256" cy="694944"/>
          </a:xfrm>
          <a:prstGeom prst="rect">
            <a:avLst/>
          </a:prstGeom>
          <a:solidFill>
            <a:srgbClr val="1B3A5C">
              <a:alpha val="6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41" name="cm text 31"/>
          <p:cNvSpPr txBox="1"/>
          <p:nvPr/>
        </p:nvSpPr>
        <p:spPr>
          <a:xfrm>
            <a:off x="2560320" y="430682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12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2%</a:t>
            </a:r>
            <a:endParaRPr lang="en-US" sz="1300" dirty="0"/>
          </a:p>
        </p:txBody>
      </p:sp>
      <p:sp>
        <p:nvSpPr>
          <p:cNvPr id="42" name="cm cell 32"/>
          <p:cNvSpPr/>
          <p:nvPr/>
        </p:nvSpPr>
        <p:spPr>
          <a:xfrm>
            <a:off x="3547872" y="4334256"/>
            <a:ext cx="905256" cy="694944"/>
          </a:xfrm>
          <a:prstGeom prst="rect">
            <a:avLst/>
          </a:prstGeom>
          <a:solidFill>
            <a:srgbClr val="1B3A5C">
              <a:alpha val="43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43" name="cm text 32"/>
          <p:cNvSpPr txBox="1"/>
          <p:nvPr/>
        </p:nvSpPr>
        <p:spPr>
          <a:xfrm>
            <a:off x="3520440" y="430682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248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43%</a:t>
            </a:r>
            <a:endParaRPr lang="en-US" sz="1300" dirty="0"/>
          </a:p>
        </p:txBody>
      </p:sp>
      <p:sp>
        <p:nvSpPr>
          <p:cNvPr id="44" name="cm cell 33"/>
          <p:cNvSpPr/>
          <p:nvPr/>
        </p:nvSpPr>
        <p:spPr>
          <a:xfrm>
            <a:off x="4507992" y="4334256"/>
            <a:ext cx="905256" cy="694944"/>
          </a:xfrm>
          <a:prstGeom prst="rect">
            <a:avLst/>
          </a:prstGeom>
          <a:solidFill>
            <a:srgbClr val="3D8B74">
              <a:alpha val="53000"/>
            </a:srgbClr>
          </a:solidFill>
          <a:ln w="6350">
            <a:solidFill>
              <a:srgbClr val="E3DCCB"/>
            </a:solidFill>
            <a:prstDash val="solid"/>
          </a:ln>
        </p:spPr>
      </p:sp>
      <p:sp>
        <p:nvSpPr>
          <p:cNvPr id="45" name="cm text 33"/>
          <p:cNvSpPr txBox="1"/>
          <p:nvPr/>
        </p:nvSpPr>
        <p:spPr>
          <a:xfrm>
            <a:off x="4480560" y="430682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303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53%</a:t>
            </a:r>
            <a:endParaRPr lang="en-US" sz="1300" dirty="0"/>
          </a:p>
        </p:txBody>
      </p:sp>
      <p:sp>
        <p:nvSpPr>
          <p:cNvPr id="46" name="cm takeaway"/>
          <p:cNvSpPr txBox="1"/>
          <p:nvPr/>
        </p:nvSpPr>
        <p:spPr>
          <a:xfrm>
            <a:off x="64008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6230"/>
                </a:solidFill>
              </a:rPr>
              <a:t>43% of CRITICAL calls are rated HIGH: the costly error</a:t>
            </a:r>
            <a:endParaRPr lang="en-US" sz="1400" dirty="0"/>
          </a:p>
        </p:txBody>
      </p:sp>
      <p:graphicFrame>
        <p:nvGraphicFramePr>
          <p:cNvPr id="47" name="reliability chart"/>
          <p:cNvGraphicFramePr/>
          <p:nvPr/>
        </p:nvGraphicFramePr>
        <p:xfrm>
          <a:off x="5943600" y="160020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coverage note"/>
          <p:cNvSpPr txBox="1"/>
          <p:nvPr/>
        </p:nvSpPr>
        <p:spPr>
          <a:xfrm>
            <a:off x="5943600" y="5440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5"/>
                </a:solidFill>
              </a:rPr>
              <a:t>Conformal sets cover 99% of HIGH but only 68% of CRITICAL calls. Next: class-conditional conformal.</a:t>
            </a:r>
            <a:endParaRPr lang="en-US" sz="12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SPEECH RECOGNITION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Whisper cuts noisy-speech errors in half</a:t>
            </a:r>
            <a:endParaRPr lang="en-US" sz="3400" dirty="0"/>
          </a:p>
        </p:txBody>
      </p:sp>
      <p:graphicFrame>
        <p:nvGraphicFramePr>
          <p:cNvPr id="4" name="kathbath chart"/>
          <p:cNvGraphicFramePr/>
          <p:nvPr/>
        </p:nvGraphicFramePr>
        <p:xfrm>
          <a:off x="64008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hindi drop value"/>
          <p:cNvSpPr txBox="1"/>
          <p:nvPr/>
        </p:nvSpPr>
        <p:spPr>
          <a:xfrm>
            <a:off x="813816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 → 28%</a:t>
            </a:r>
            <a:endParaRPr lang="en-US" sz="4400" dirty="0"/>
          </a:p>
        </p:txBody>
      </p:sp>
      <p:sp>
        <p:nvSpPr>
          <p:cNvPr id="6" name="hindi drop label"/>
          <p:cNvSpPr txBox="1"/>
          <p:nvPr/>
        </p:nvSpPr>
        <p:spPr>
          <a:xfrm>
            <a:off x="813816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Hindi word errors over radio noise</a:t>
            </a:r>
            <a:endParaRPr lang="en-US" sz="1400" dirty="0"/>
          </a:p>
        </p:txBody>
      </p:sp>
      <p:sp>
        <p:nvSpPr>
          <p:cNvPr id="7" name="synthetic value"/>
          <p:cNvSpPr txBox="1"/>
          <p:nvPr/>
        </p:nvSpPr>
        <p:spPr>
          <a:xfrm>
            <a:off x="81381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 → 78%</a:t>
            </a:r>
            <a:endParaRPr lang="en-US" sz="4400" dirty="0"/>
          </a:p>
        </p:txBody>
      </p:sp>
      <p:sp>
        <p:nvSpPr>
          <p:cNvPr id="8" name="synthetic label"/>
          <p:cNvSpPr txBox="1"/>
          <p:nvPr/>
        </p:nvSpPr>
        <p:spPr>
          <a:xfrm>
            <a:off x="813816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caller WER on our 24 synthetic TTS calls; CER 76% → 77%, so synthetic audio is the bottleneck</a:t>
            </a:r>
            <a:endParaRPr lang="en-US" sz="1400" dirty="0"/>
          </a:p>
        </p:txBody>
      </p:sp>
      <p:sp>
        <p:nvSpPr>
          <p:cNvPr id="9" name="kathbath note"/>
          <p:cNvSpPr txBox="1"/>
          <p:nvPr/>
        </p:nvSpPr>
        <p:spPr>
          <a:xfrm>
            <a:off x="8138160" y="5029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5"/>
                </a:solidFill>
              </a:rPr>
              <a:t>AI4Bharat Kathbath, 8 speakers per language (Malayalam 2). No training run: published checkpoints, measured on our channel.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LLM EXTRACTION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open LLM, kept honest by a grounding guard</a:t>
            </a:r>
            <a:endParaRPr lang="en-US" sz="3400" dirty="0"/>
          </a:p>
        </p:txBody>
      </p:sp>
      <p:graphicFrame>
        <p:nvGraphicFramePr>
          <p:cNvPr id="4" name="llm chart"/>
          <p:cNvGraphicFramePr/>
          <p:nvPr/>
        </p:nvGraphicFramePr>
        <p:xfrm>
          <a:off x="64008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jections value"/>
          <p:cNvSpPr txBox="1"/>
          <p:nvPr/>
        </p:nvSpPr>
        <p:spPr>
          <a:xfrm>
            <a:off x="813816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7A6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4400" dirty="0"/>
          </a:p>
        </p:txBody>
      </p:sp>
      <p:sp>
        <p:nvSpPr>
          <p:cNvPr id="6" name="rejections label"/>
          <p:cNvSpPr txBox="1"/>
          <p:nvPr/>
        </p:nvSpPr>
        <p:spPr>
          <a:xfrm>
            <a:off x="813816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LLM answers blocked: quote not in the transcript or not a valid value</a:t>
            </a:r>
            <a:endParaRPr lang="en-US" sz="1400" dirty="0"/>
          </a:p>
        </p:txBody>
      </p:sp>
      <p:sp>
        <p:nvSpPr>
          <p:cNvPr id="7" name="model value"/>
          <p:cNvSpPr txBox="1"/>
          <p:nvPr/>
        </p:nvSpPr>
        <p:spPr>
          <a:xfrm>
            <a:off x="81381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1.5B</a:t>
            </a:r>
            <a:endParaRPr lang="en-US" sz="4400" dirty="0"/>
          </a:p>
        </p:txBody>
      </p:sp>
      <p:sp>
        <p:nvSpPr>
          <p:cNvPr id="8" name="model label"/>
          <p:cNvSpPr txBox="1"/>
          <p:nvPr/>
        </p:nvSpPr>
        <p:spPr>
          <a:xfrm>
            <a:off x="813816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parameters, 4-bit, laptop CPU, output constrained to a JSON schema</a:t>
            </a:r>
            <a:endParaRPr lang="en-US" sz="1400" dirty="0"/>
          </a:p>
        </p:txBody>
      </p:sp>
      <p:sp>
        <p:nvSpPr>
          <p:cNvPr id="9" name="routing note"/>
          <p:cNvSpPr txBox="1"/>
          <p:nvPr/>
        </p:nvSpPr>
        <p:spPr>
          <a:xfrm>
            <a:off x="8138160" y="5029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5"/>
                </a:solidFill>
              </a:rPr>
              <a:t>Learned on dev data: vessel: LLM · mmsi: LLM · position: CRF · POB: LLM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DRIFT FORECASTING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plus machine learning, tested on real ocean buoys</a:t>
            </a:r>
            <a:endParaRPr lang="en-US" sz="3400" dirty="0"/>
          </a:p>
        </p:txBody>
      </p:sp>
      <p:graphicFrame>
        <p:nvGraphicFramePr>
          <p:cNvPr id="4" name="drift chart"/>
          <p:cNvGraphicFramePr/>
          <p:nvPr/>
        </p:nvGraphicFramePr>
        <p:xfrm>
          <a:off x="64008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kill value"/>
          <p:cNvSpPr txBox="1"/>
          <p:nvPr/>
        </p:nvSpPr>
        <p:spPr>
          <a:xfrm>
            <a:off x="813816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4400" dirty="0"/>
          </a:p>
        </p:txBody>
      </p:sp>
      <p:sp>
        <p:nvSpPr>
          <p:cNvPr id="6" name="skill label"/>
          <p:cNvSpPr txBox="1"/>
          <p:nvPr/>
        </p:nvSpPr>
        <p:spPr>
          <a:xfrm>
            <a:off x="813816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better than 'object stays put' at 24 h</a:t>
            </a:r>
            <a:endParaRPr lang="en-US" sz="1400" dirty="0"/>
          </a:p>
        </p:txBody>
      </p:sp>
      <p:sp>
        <p:nvSpPr>
          <p:cNvPr id="7" name="gain value"/>
          <p:cNvSpPr txBox="1"/>
          <p:nvPr/>
        </p:nvSpPr>
        <p:spPr>
          <a:xfrm>
            <a:off x="81381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+2.1%</a:t>
            </a:r>
            <a:endParaRPr lang="en-US" sz="4400" dirty="0"/>
          </a:p>
        </p:txBody>
      </p:sp>
      <p:sp>
        <p:nvSpPr>
          <p:cNvPr id="8" name="gain label"/>
          <p:cNvSpPr txBox="1"/>
          <p:nvPr/>
        </p:nvSpPr>
        <p:spPr>
          <a:xfrm>
            <a:off x="813816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LightGBM over physics at 24 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95% CI 0.6% to 3.6%</a:t>
            </a:r>
            <a:endParaRPr lang="en-US" sz="1400" dirty="0"/>
          </a:p>
        </p:txBody>
      </p:sp>
      <p:sp>
        <p:nvSpPr>
          <p:cNvPr id="9" name="drift note"/>
          <p:cNvSpPr txBox="1"/>
          <p:nvPr/>
        </p:nvSpPr>
        <p:spPr>
          <a:xfrm>
            <a:off x="8138160" y="5029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5"/>
                </a:solidFill>
              </a:rPr>
              <a:t>1600 start points from 11 NOAA buoys · cross-validated by buoy · conformal 90% search radius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EXTERNAL VALIDATION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synthetic data, tested on real radio dialogues</a:t>
            </a:r>
            <a:endParaRPr lang="en-US" sz="3400" dirty="0"/>
          </a:p>
        </p:txBody>
      </p:sp>
      <p:graphicFrame>
        <p:nvGraphicFramePr>
          <p:cNvPr id="4" name="martts chart"/>
          <p:cNvGraphicFramePr/>
          <p:nvPr/>
        </p:nvGraphicFramePr>
        <p:xfrm>
          <a:off x="640080" y="16459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tine value"/>
          <p:cNvSpPr txBox="1"/>
          <p:nvPr/>
        </p:nvSpPr>
        <p:spPr>
          <a:xfrm>
            <a:off x="813816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 → 2%</a:t>
            </a:r>
            <a:endParaRPr lang="en-US" sz="4400" dirty="0"/>
          </a:p>
        </p:txBody>
      </p:sp>
      <p:sp>
        <p:nvSpPr>
          <p:cNvPr id="6" name="routine label"/>
          <p:cNvSpPr txBox="1"/>
          <p:nvPr/>
        </p:nvSpPr>
        <p:spPr>
          <a:xfrm>
            <a:off x="813816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routine calls wrongly rated HIGH or CRITICAL</a:t>
            </a:r>
            <a:endParaRPr lang="en-US" sz="1400" dirty="0"/>
          </a:p>
        </p:txBody>
      </p:sp>
      <p:sp>
        <p:nvSpPr>
          <p:cNvPr id="7" name="seaalert value"/>
          <p:cNvSpPr txBox="1"/>
          <p:nvPr/>
        </p:nvSpPr>
        <p:spPr>
          <a:xfrm>
            <a:off x="81381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4400" dirty="0"/>
          </a:p>
        </p:txBody>
      </p:sp>
      <p:sp>
        <p:nvSpPr>
          <p:cNvPr id="8" name="seaalert label"/>
          <p:cNvSpPr txBox="1"/>
          <p:nvPr/>
        </p:nvSpPr>
        <p:spPr>
          <a:xfrm>
            <a:off x="813816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SeaAlert category F1 at heavy ASR noise, vs 0.42 published logistic regression</a:t>
            </a:r>
            <a:endParaRPr lang="en-US" sz="1400" dirty="0"/>
          </a:p>
        </p:txBody>
      </p:sp>
      <p:sp>
        <p:nvSpPr>
          <p:cNvPr id="9" name="protocol note"/>
          <p:cNvSpPr txBox="1"/>
          <p:nvPr/>
        </p:nvSpPr>
        <p:spPr>
          <a:xfrm>
            <a:off x="8138160" y="5029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785"/>
                </a:solidFill>
              </a:rPr>
              <a:t>Fixes were made on a dev split only; test dialogues were scored, never inspected.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HONEST LIMITS AND NEXT STEPS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real deployment would still need</a:t>
            </a:r>
            <a:endParaRPr lang="en-US" sz="3400" dirty="0"/>
          </a:p>
        </p:txBody>
      </p:sp>
      <p:sp>
        <p:nvSpPr>
          <p:cNvPr id="4" name="Limits card"/>
          <p:cNvSpPr/>
          <p:nvPr/>
        </p:nvSpPr>
        <p:spPr>
          <a:xfrm>
            <a:off x="64008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mits head"/>
          <p:cNvSpPr txBox="1"/>
          <p:nvPr/>
        </p:nvSpPr>
        <p:spPr>
          <a:xfrm>
            <a:off x="9601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6230"/>
                </a:solidFill>
              </a:rPr>
              <a:t>Limits</a:t>
            </a:r>
            <a:endParaRPr lang="en-US" sz="2000" dirty="0"/>
          </a:p>
        </p:txBody>
      </p:sp>
      <p:sp>
        <p:nvSpPr>
          <p:cNvPr id="6" name="Limits dot 0"/>
          <p:cNvSpPr/>
          <p:nvPr/>
        </p:nvSpPr>
        <p:spPr>
          <a:xfrm>
            <a:off x="960120" y="260604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Limits item 0"/>
          <p:cNvSpPr txBox="1"/>
          <p:nvPr/>
        </p:nvSpPr>
        <p:spPr>
          <a:xfrm>
            <a:off x="1325880" y="2514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Labels are synthetic; Indic phrasing needs native-speaker review</a:t>
            </a:r>
            <a:endParaRPr lang="en-US" sz="1500" dirty="0"/>
          </a:p>
        </p:txBody>
      </p:sp>
      <p:sp>
        <p:nvSpPr>
          <p:cNvPr id="8" name="Limits dot 1"/>
          <p:cNvSpPr/>
          <p:nvPr/>
        </p:nvSpPr>
        <p:spPr>
          <a:xfrm>
            <a:off x="960120" y="342900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Limits item 1"/>
          <p:cNvSpPr txBox="1"/>
          <p:nvPr/>
        </p:nvSpPr>
        <p:spPr>
          <a:xfrm>
            <a:off x="1325880" y="33375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Only 11 buoys with current data limit the drift model</a:t>
            </a:r>
            <a:endParaRPr lang="en-US" sz="1500" dirty="0"/>
          </a:p>
        </p:txBody>
      </p:sp>
      <p:sp>
        <p:nvSpPr>
          <p:cNvPr id="10" name="Limits dot 2"/>
          <p:cNvSpPr/>
          <p:nvPr/>
        </p:nvSpPr>
        <p:spPr>
          <a:xfrm>
            <a:off x="960120" y="425196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Limits item 2"/>
          <p:cNvSpPr txBox="1"/>
          <p:nvPr/>
        </p:nvSpPr>
        <p:spPr>
          <a:xfrm>
            <a:off x="1325880" y="4160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Small external samples (24–177 items) give wide intervals</a:t>
            </a:r>
            <a:endParaRPr lang="en-US" sz="1500" dirty="0"/>
          </a:p>
        </p:txBody>
      </p:sp>
      <p:sp>
        <p:nvSpPr>
          <p:cNvPr id="12" name="Limits dot 3"/>
          <p:cNvSpPr/>
          <p:nvPr/>
        </p:nvSpPr>
        <p:spPr>
          <a:xfrm>
            <a:off x="960120" y="507492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Limits item 3"/>
          <p:cNvSpPr txBox="1"/>
          <p:nvPr/>
        </p:nvSpPr>
        <p:spPr>
          <a:xfrm>
            <a:off x="1325880" y="4983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Kathbath may overlap the checkpoints' training data</a:t>
            </a:r>
            <a:endParaRPr lang="en-US" sz="1500" dirty="0"/>
          </a:p>
        </p:txBody>
      </p:sp>
      <p:sp>
        <p:nvSpPr>
          <p:cNvPr id="14" name="Next steps card"/>
          <p:cNvSpPr/>
          <p:nvPr/>
        </p:nvSpPr>
        <p:spPr>
          <a:xfrm>
            <a:off x="621792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ext steps head"/>
          <p:cNvSpPr txBox="1"/>
          <p:nvPr/>
        </p:nvSpPr>
        <p:spPr>
          <a:xfrm>
            <a:off x="65379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B74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6" name="Next steps dot 0"/>
          <p:cNvSpPr/>
          <p:nvPr/>
        </p:nvSpPr>
        <p:spPr>
          <a:xfrm>
            <a:off x="6537960" y="260604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Next steps item 0"/>
          <p:cNvSpPr txBox="1"/>
          <p:nvPr/>
        </p:nvSpPr>
        <p:spPr>
          <a:xfrm>
            <a:off x="6903720" y="2514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Record real calls with consenting operators</a:t>
            </a:r>
            <a:endParaRPr lang="en-US" sz="1500" dirty="0"/>
          </a:p>
        </p:txBody>
      </p:sp>
      <p:sp>
        <p:nvSpPr>
          <p:cNvPr id="18" name="Next steps dot 1"/>
          <p:cNvSpPr/>
          <p:nvPr/>
        </p:nvSpPr>
        <p:spPr>
          <a:xfrm>
            <a:off x="6537960" y="342900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ext steps item 1"/>
          <p:cNvSpPr txBox="1"/>
          <p:nvPr/>
        </p:nvSpPr>
        <p:spPr>
          <a:xfrm>
            <a:off x="6903720" y="33375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LoRA fine-tune Whisper on radio-channel audio</a:t>
            </a:r>
            <a:endParaRPr lang="en-US" sz="1500" dirty="0"/>
          </a:p>
        </p:txBody>
      </p:sp>
      <p:sp>
        <p:nvSpPr>
          <p:cNvPr id="20" name="Next steps dot 2"/>
          <p:cNvSpPr/>
          <p:nvPr/>
        </p:nvSpPr>
        <p:spPr>
          <a:xfrm>
            <a:off x="6537960" y="425196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Next steps item 2"/>
          <p:cNvSpPr txBox="1"/>
          <p:nvPr/>
        </p:nvSpPr>
        <p:spPr>
          <a:xfrm>
            <a:off x="6903720" y="4160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LoRA fine-tune the LLM on our labelled dialogues</a:t>
            </a:r>
            <a:endParaRPr lang="en-US" sz="1500" dirty="0"/>
          </a:p>
        </p:txBody>
      </p:sp>
      <p:sp>
        <p:nvSpPr>
          <p:cNvPr id="22" name="Next steps dot 3"/>
          <p:cNvSpPr/>
          <p:nvPr/>
        </p:nvSpPr>
        <p:spPr>
          <a:xfrm>
            <a:off x="6537960" y="507492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ext steps item 3"/>
          <p:cNvSpPr txBox="1"/>
          <p:nvPr/>
        </p:nvSpPr>
        <p:spPr>
          <a:xfrm>
            <a:off x="6903720" y="4983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Stream live calls through Kafka; real AIS feed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dar ring 5"/>
          <p:cNvSpPr/>
          <p:nvPr/>
        </p:nvSpPr>
        <p:spPr>
          <a:xfrm>
            <a:off x="6858000" y="594360"/>
            <a:ext cx="5669280" cy="5669280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10000"/>
              </a:srgbClr>
            </a:solidFill>
            <a:prstDash val="solid"/>
          </a:ln>
        </p:spPr>
      </p:sp>
      <p:sp>
        <p:nvSpPr>
          <p:cNvPr id="3" name="radar ring 4"/>
          <p:cNvSpPr/>
          <p:nvPr/>
        </p:nvSpPr>
        <p:spPr>
          <a:xfrm>
            <a:off x="7424928" y="1161288"/>
            <a:ext cx="4535424" cy="4535424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20000"/>
              </a:srgbClr>
            </a:solidFill>
            <a:prstDash val="solid"/>
          </a:ln>
        </p:spPr>
      </p:sp>
      <p:sp>
        <p:nvSpPr>
          <p:cNvPr id="4" name="radar ring 3"/>
          <p:cNvSpPr/>
          <p:nvPr/>
        </p:nvSpPr>
        <p:spPr>
          <a:xfrm>
            <a:off x="7991856" y="1728216"/>
            <a:ext cx="3401568" cy="3401568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30000"/>
              </a:srgbClr>
            </a:solidFill>
            <a:prstDash val="solid"/>
          </a:ln>
        </p:spPr>
      </p:sp>
      <p:sp>
        <p:nvSpPr>
          <p:cNvPr id="5" name="radar ring 2"/>
          <p:cNvSpPr/>
          <p:nvPr/>
        </p:nvSpPr>
        <p:spPr>
          <a:xfrm>
            <a:off x="8558784" y="2295144"/>
            <a:ext cx="2267712" cy="2267712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40000"/>
              </a:srgbClr>
            </a:solidFill>
            <a:prstDash val="solid"/>
          </a:ln>
        </p:spPr>
      </p:sp>
      <p:sp>
        <p:nvSpPr>
          <p:cNvPr id="6" name="radar ring 1"/>
          <p:cNvSpPr/>
          <p:nvPr/>
        </p:nvSpPr>
        <p:spPr>
          <a:xfrm>
            <a:off x="9125712" y="2862072"/>
            <a:ext cx="1133856" cy="1133856"/>
          </a:xfrm>
          <a:prstGeom prst="ellipse">
            <a:avLst/>
          </a:prstGeom>
          <a:solidFill>
            <a:srgbClr val="A8C5B5">
              <a:alpha val="0"/>
            </a:srgbClr>
          </a:solidFill>
          <a:ln w="12700">
            <a:solidFill>
              <a:srgbClr val="A8C5B5">
                <a:alpha val="50000"/>
              </a:srgbClr>
            </a:solidFill>
            <a:prstDash val="solid"/>
          </a:ln>
        </p:spPr>
      </p:sp>
      <p:sp>
        <p:nvSpPr>
          <p:cNvPr id="7" name="radar blip"/>
          <p:cNvSpPr/>
          <p:nvPr/>
        </p:nvSpPr>
        <p:spPr>
          <a:xfrm>
            <a:off x="9582912" y="3319272"/>
            <a:ext cx="219456" cy="219456"/>
          </a:xfrm>
          <a:prstGeom prst="ellipse">
            <a:avLst/>
          </a:prstGeom>
          <a:solidFill>
            <a:srgbClr val="D9B45A"/>
          </a:solidFill>
          <a:ln w="12700">
            <a:solidFill>
              <a:srgbClr val="D9B45A"/>
            </a:solidFill>
            <a:prstDash val="solid"/>
          </a:ln>
        </p:spPr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9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One distress call, end to end: audio, transcript, extraction, severity, drift and dispatch</a:t>
            </a:r>
            <a:endParaRPr lang="en-US" sz="1800" dirty="0"/>
          </a:p>
        </p:txBody>
      </p:sp>
      <p:sp>
        <p:nvSpPr>
          <p:cNvPr id="10" name="thanks"/>
          <p:cNvSpPr txBox="1"/>
          <p:nvPr/>
        </p:nvSpPr>
        <p:spPr>
          <a:xfrm>
            <a:off x="73152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time Ivory">
  <a:themeElements>
    <a:clrScheme name="Maritime Ivory">
      <a:dk1>
        <a:srgbClr val="1E2A36"/>
      </a:dk1>
      <a:lt1>
        <a:srgbClr val="FAF7F0"/>
      </a:lt1>
      <a:dk2>
        <a:srgbClr val="1B3A5C"/>
      </a:dk2>
      <a:lt2>
        <a:srgbClr val="EFE7D6"/>
      </a:lt2>
      <a:accent1>
        <a:srgbClr val="2E6F95"/>
      </a:accent1>
      <a:accent2>
        <a:srgbClr val="3D8B74"/>
      </a:accent2>
      <a:accent3>
        <a:srgbClr val="D9B45A"/>
      </a:accent3>
      <a:accent4>
        <a:srgbClr val="A8C5B5"/>
      </a:accent4>
      <a:accent5>
        <a:srgbClr val="8FB1CC"/>
      </a:accent5>
      <a:accent6>
        <a:srgbClr val="C9B48A"/>
      </a:accent6>
      <a:hlink>
        <a:srgbClr val="2E6F95"/>
      </a:hlink>
      <a:folHlink>
        <a:srgbClr val="3D8B74"/>
      </a:folHlink>
    </a:clrScheme>
    <a:fontScheme name="Maritime Iv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1123</Words>
  <Application>Microsoft Office PowerPoint</Application>
  <PresentationFormat>Widescreen</PresentationFormat>
  <Paragraphs>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Maritime Ivory</vt:lpstr>
      <vt:lpstr>Maritime Distress Intelligence</vt:lpstr>
      <vt:lpstr>PowerPoint Presentation</vt:lpstr>
      <vt:lpstr>PowerPoint Presentation</vt:lpstr>
      <vt:lpstr>PowerPoint Presentation</vt:lpstr>
      <vt:lpstr>PowerPoint Presentation</vt:lpstr>
      <vt:lpstr>Labels we generate, realism we borrow</vt:lpstr>
      <vt:lpstr>Entities and incidents, on phrasings never seen in training</vt:lpstr>
      <vt:lpstr>Probabilities you can trust, sets that admit doubt</vt:lpstr>
      <vt:lpstr>Where the severity model goes wrong</vt:lpstr>
      <vt:lpstr>Fine-tuned Whisper cuts noisy-speech errors in half</vt:lpstr>
      <vt:lpstr>A small open LLM, kept honest by a grounding guard</vt:lpstr>
      <vt:lpstr>Physics plus machine learning, tested on real ocean buoys</vt:lpstr>
      <vt:lpstr>Trained on synthetic data, tested on real radio dialogues</vt:lpstr>
      <vt:lpstr>What a real deployment would still need</vt:lpstr>
      <vt:lpstr>Live demo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Maritime Distress Intelligence</dc:title>
  <dc:subject>PptxGenJS Presentation</dc:subject>
  <dc:creator>Data Science course project</dc:creator>
  <cp:lastModifiedBy>Saaraah Bharat</cp:lastModifiedBy>
  <cp:revision>1</cp:revision>
  <dcterms:created xsi:type="dcterms:W3CDTF">2026-10-21T16:45:29Z</dcterms:created>
  <dcterms:modified xsi:type="dcterms:W3CDTF">2026-10-21T16:56:41Z</dcterms:modified>
</cp:coreProperties>
</file>